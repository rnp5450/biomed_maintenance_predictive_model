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al Bold" panose="020B0704020202020204" pitchFamily="34" charset="0"/>
      <p:regular r:id="rId11"/>
      <p:bold r:id="rId12"/>
    </p:embeddedFon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Coco Gothic" panose="020B0604020202020204" charset="0"/>
      <p:regular r:id="rId15"/>
    </p:embeddedFont>
    <p:embeddedFont>
      <p:font typeface="Coco Gothic Bold" panose="020B0604020202020204" charset="0"/>
      <p:regular r:id="rId16"/>
    </p:embeddedFont>
    <p:embeddedFont>
      <p:font typeface="Coco Gothic Bold Italics" panose="020B0604020202020204" charset="0"/>
      <p:regular r:id="rId17"/>
    </p:embeddedFont>
    <p:embeddedFont>
      <p:font typeface="TAN Headlin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402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1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audio" Target="../media/media1.m4a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1.sv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1.svg"/><Relationship Id="rId12" Type="http://schemas.openxmlformats.org/officeDocument/2006/relationships/image" Target="../media/image17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svg"/><Relationship Id="rId10" Type="http://schemas.openxmlformats.org/officeDocument/2006/relationships/image" Target="../media/image24.sv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7.sv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6.png"/><Relationship Id="rId5" Type="http://schemas.openxmlformats.org/officeDocument/2006/relationships/image" Target="../media/image21.svg"/><Relationship Id="rId10" Type="http://schemas.openxmlformats.org/officeDocument/2006/relationships/image" Target="../media/image17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9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1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0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sv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7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3.sv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3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1.sv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3764" y="6602789"/>
            <a:ext cx="4127261" cy="5717869"/>
          </a:xfrm>
          <a:custGeom>
            <a:avLst/>
            <a:gdLst/>
            <a:ahLst/>
            <a:cxnLst/>
            <a:rect l="l" t="t" r="r" b="b"/>
            <a:pathLst>
              <a:path w="4127261" h="5717869">
                <a:moveTo>
                  <a:pt x="0" y="0"/>
                </a:moveTo>
                <a:lnTo>
                  <a:pt x="4127261" y="0"/>
                </a:lnTo>
                <a:lnTo>
                  <a:pt x="4127261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45688" y="6530811"/>
            <a:ext cx="4364916" cy="6187381"/>
          </a:xfrm>
          <a:custGeom>
            <a:avLst/>
            <a:gdLst/>
            <a:ahLst/>
            <a:cxnLst/>
            <a:rect l="l" t="t" r="r" b="b"/>
            <a:pathLst>
              <a:path w="4364916" h="6187381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99155" y="2236659"/>
            <a:ext cx="3778768" cy="3807323"/>
          </a:xfrm>
          <a:custGeom>
            <a:avLst/>
            <a:gdLst/>
            <a:ahLst/>
            <a:cxnLst/>
            <a:rect l="l" t="t" r="r" b="b"/>
            <a:pathLst>
              <a:path w="3778768" h="3807323">
                <a:moveTo>
                  <a:pt x="0" y="0"/>
                </a:moveTo>
                <a:lnTo>
                  <a:pt x="3778767" y="0"/>
                </a:lnTo>
                <a:lnTo>
                  <a:pt x="3778767" y="3807322"/>
                </a:lnTo>
                <a:lnTo>
                  <a:pt x="0" y="3807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1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41271" y="257550"/>
            <a:ext cx="1828678" cy="1399770"/>
          </a:xfrm>
          <a:custGeom>
            <a:avLst/>
            <a:gdLst/>
            <a:ahLst/>
            <a:cxnLst/>
            <a:rect l="l" t="t" r="r" b="b"/>
            <a:pathLst>
              <a:path w="1828678" h="1399770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2417232">
            <a:off x="30461" y="2031981"/>
            <a:ext cx="627698" cy="634365"/>
            <a:chOff x="0" y="0"/>
            <a:chExt cx="836930" cy="845820"/>
          </a:xfrm>
        </p:grpSpPr>
        <p:sp>
          <p:nvSpPr>
            <p:cNvPr id="7" name="Freeform 7"/>
            <p:cNvSpPr/>
            <p:nvPr/>
          </p:nvSpPr>
          <p:spPr>
            <a:xfrm>
              <a:off x="45720" y="48260"/>
              <a:ext cx="746760" cy="748030"/>
            </a:xfrm>
            <a:custGeom>
              <a:avLst/>
              <a:gdLst/>
              <a:ahLst/>
              <a:cxnLst/>
              <a:rect l="l" t="t" r="r" b="b"/>
              <a:pathLst>
                <a:path w="746760" h="748030">
                  <a:moveTo>
                    <a:pt x="541020" y="712470"/>
                  </a:moveTo>
                  <a:cubicBezTo>
                    <a:pt x="17780" y="205740"/>
                    <a:pt x="15240" y="201930"/>
                    <a:pt x="10160" y="186690"/>
                  </a:cubicBezTo>
                  <a:cubicBezTo>
                    <a:pt x="3810" y="163830"/>
                    <a:pt x="0" y="124460"/>
                    <a:pt x="8890" y="99060"/>
                  </a:cubicBezTo>
                  <a:cubicBezTo>
                    <a:pt x="16510" y="72390"/>
                    <a:pt x="38100" y="44450"/>
                    <a:pt x="59690" y="27940"/>
                  </a:cubicBezTo>
                  <a:cubicBezTo>
                    <a:pt x="82550" y="11430"/>
                    <a:pt x="116840" y="1270"/>
                    <a:pt x="143510" y="2540"/>
                  </a:cubicBezTo>
                  <a:cubicBezTo>
                    <a:pt x="171450" y="3810"/>
                    <a:pt x="207010" y="20320"/>
                    <a:pt x="226060" y="33020"/>
                  </a:cubicBezTo>
                  <a:cubicBezTo>
                    <a:pt x="240030" y="43180"/>
                    <a:pt x="247650" y="52070"/>
                    <a:pt x="255270" y="66040"/>
                  </a:cubicBezTo>
                  <a:cubicBezTo>
                    <a:pt x="266700" y="87630"/>
                    <a:pt x="275590" y="128270"/>
                    <a:pt x="275590" y="151130"/>
                  </a:cubicBezTo>
                  <a:cubicBezTo>
                    <a:pt x="275590" y="168910"/>
                    <a:pt x="273050" y="180340"/>
                    <a:pt x="265430" y="194310"/>
                  </a:cubicBezTo>
                  <a:cubicBezTo>
                    <a:pt x="254000" y="215900"/>
                    <a:pt x="229870" y="246380"/>
                    <a:pt x="205740" y="259080"/>
                  </a:cubicBezTo>
                  <a:cubicBezTo>
                    <a:pt x="181610" y="273050"/>
                    <a:pt x="143510" y="276860"/>
                    <a:pt x="120650" y="275590"/>
                  </a:cubicBezTo>
                  <a:cubicBezTo>
                    <a:pt x="102870" y="274320"/>
                    <a:pt x="91440" y="270510"/>
                    <a:pt x="77470" y="261620"/>
                  </a:cubicBezTo>
                  <a:cubicBezTo>
                    <a:pt x="57150" y="250190"/>
                    <a:pt x="27940" y="224790"/>
                    <a:pt x="16510" y="199390"/>
                  </a:cubicBezTo>
                  <a:cubicBezTo>
                    <a:pt x="3810" y="175260"/>
                    <a:pt x="0" y="139700"/>
                    <a:pt x="5080" y="113030"/>
                  </a:cubicBezTo>
                  <a:cubicBezTo>
                    <a:pt x="10160" y="86360"/>
                    <a:pt x="27940" y="55880"/>
                    <a:pt x="48260" y="36830"/>
                  </a:cubicBezTo>
                  <a:cubicBezTo>
                    <a:pt x="69850" y="19050"/>
                    <a:pt x="105410" y="6350"/>
                    <a:pt x="129540" y="2540"/>
                  </a:cubicBezTo>
                  <a:cubicBezTo>
                    <a:pt x="146050" y="0"/>
                    <a:pt x="157480" y="1270"/>
                    <a:pt x="173990" y="6350"/>
                  </a:cubicBezTo>
                  <a:cubicBezTo>
                    <a:pt x="195580" y="13970"/>
                    <a:pt x="214630" y="27940"/>
                    <a:pt x="246380" y="54610"/>
                  </a:cubicBezTo>
                  <a:cubicBezTo>
                    <a:pt x="337820" y="129540"/>
                    <a:pt x="645160" y="457200"/>
                    <a:pt x="708660" y="537210"/>
                  </a:cubicBezTo>
                  <a:cubicBezTo>
                    <a:pt x="726440" y="560070"/>
                    <a:pt x="734060" y="566420"/>
                    <a:pt x="739140" y="585470"/>
                  </a:cubicBezTo>
                  <a:cubicBezTo>
                    <a:pt x="745490" y="609600"/>
                    <a:pt x="746760" y="646430"/>
                    <a:pt x="736600" y="671830"/>
                  </a:cubicBezTo>
                  <a:cubicBezTo>
                    <a:pt x="726440" y="695960"/>
                    <a:pt x="698500" y="722630"/>
                    <a:pt x="676910" y="734060"/>
                  </a:cubicBezTo>
                  <a:cubicBezTo>
                    <a:pt x="659130" y="744220"/>
                    <a:pt x="641350" y="748030"/>
                    <a:pt x="621030" y="746760"/>
                  </a:cubicBezTo>
                  <a:cubicBezTo>
                    <a:pt x="595630" y="744220"/>
                    <a:pt x="541020" y="712470"/>
                    <a:pt x="541020" y="71247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-2417232">
            <a:off x="469274" y="1680161"/>
            <a:ext cx="296228" cy="615315"/>
            <a:chOff x="0" y="0"/>
            <a:chExt cx="394970" cy="820420"/>
          </a:xfrm>
        </p:grpSpPr>
        <p:sp>
          <p:nvSpPr>
            <p:cNvPr id="9" name="Freeform 9"/>
            <p:cNvSpPr/>
            <p:nvPr/>
          </p:nvSpPr>
          <p:spPr>
            <a:xfrm>
              <a:off x="48260" y="49530"/>
              <a:ext cx="311150" cy="722630"/>
            </a:xfrm>
            <a:custGeom>
              <a:avLst/>
              <a:gdLst/>
              <a:ahLst/>
              <a:cxnLst/>
              <a:rect l="l" t="t" r="r" b="b"/>
              <a:pathLst>
                <a:path w="311150" h="722630">
                  <a:moveTo>
                    <a:pt x="66040" y="626110"/>
                  </a:moveTo>
                  <a:cubicBezTo>
                    <a:pt x="2540" y="208280"/>
                    <a:pt x="11430" y="87630"/>
                    <a:pt x="33020" y="48260"/>
                  </a:cubicBezTo>
                  <a:cubicBezTo>
                    <a:pt x="40640" y="31750"/>
                    <a:pt x="49530" y="27940"/>
                    <a:pt x="63500" y="20320"/>
                  </a:cubicBezTo>
                  <a:cubicBezTo>
                    <a:pt x="83820" y="10160"/>
                    <a:pt x="118110" y="0"/>
                    <a:pt x="143510" y="2540"/>
                  </a:cubicBezTo>
                  <a:cubicBezTo>
                    <a:pt x="168910" y="5080"/>
                    <a:pt x="199390" y="19050"/>
                    <a:pt x="218440" y="36830"/>
                  </a:cubicBezTo>
                  <a:cubicBezTo>
                    <a:pt x="237490" y="53340"/>
                    <a:pt x="252730" y="82550"/>
                    <a:pt x="257810" y="107950"/>
                  </a:cubicBezTo>
                  <a:cubicBezTo>
                    <a:pt x="261620" y="133350"/>
                    <a:pt x="256540" y="166370"/>
                    <a:pt x="245110" y="189230"/>
                  </a:cubicBezTo>
                  <a:cubicBezTo>
                    <a:pt x="232410" y="212090"/>
                    <a:pt x="204470" y="234950"/>
                    <a:pt x="185420" y="246380"/>
                  </a:cubicBezTo>
                  <a:cubicBezTo>
                    <a:pt x="172720" y="254000"/>
                    <a:pt x="161290" y="256540"/>
                    <a:pt x="146050" y="257810"/>
                  </a:cubicBezTo>
                  <a:cubicBezTo>
                    <a:pt x="124460" y="257810"/>
                    <a:pt x="85090" y="250190"/>
                    <a:pt x="66040" y="240030"/>
                  </a:cubicBezTo>
                  <a:cubicBezTo>
                    <a:pt x="52070" y="233680"/>
                    <a:pt x="43180" y="226060"/>
                    <a:pt x="34290" y="214630"/>
                  </a:cubicBezTo>
                  <a:cubicBezTo>
                    <a:pt x="20320" y="196850"/>
                    <a:pt x="6350" y="160020"/>
                    <a:pt x="2540" y="138430"/>
                  </a:cubicBezTo>
                  <a:cubicBezTo>
                    <a:pt x="0" y="123190"/>
                    <a:pt x="1270" y="111760"/>
                    <a:pt x="7620" y="96520"/>
                  </a:cubicBezTo>
                  <a:cubicBezTo>
                    <a:pt x="13970" y="76200"/>
                    <a:pt x="31750" y="44450"/>
                    <a:pt x="52070" y="29210"/>
                  </a:cubicBezTo>
                  <a:cubicBezTo>
                    <a:pt x="72390" y="12700"/>
                    <a:pt x="107950" y="3810"/>
                    <a:pt x="129540" y="1270"/>
                  </a:cubicBezTo>
                  <a:cubicBezTo>
                    <a:pt x="146050" y="0"/>
                    <a:pt x="156210" y="2540"/>
                    <a:pt x="171450" y="7620"/>
                  </a:cubicBezTo>
                  <a:cubicBezTo>
                    <a:pt x="191770" y="16510"/>
                    <a:pt x="222250" y="35560"/>
                    <a:pt x="236220" y="57150"/>
                  </a:cubicBezTo>
                  <a:cubicBezTo>
                    <a:pt x="251460" y="78740"/>
                    <a:pt x="260350" y="110490"/>
                    <a:pt x="259080" y="135890"/>
                  </a:cubicBezTo>
                  <a:cubicBezTo>
                    <a:pt x="257810" y="161290"/>
                    <a:pt x="227330" y="210820"/>
                    <a:pt x="229870" y="212090"/>
                  </a:cubicBezTo>
                  <a:cubicBezTo>
                    <a:pt x="231140" y="213360"/>
                    <a:pt x="243840" y="182880"/>
                    <a:pt x="250190" y="185420"/>
                  </a:cubicBezTo>
                  <a:cubicBezTo>
                    <a:pt x="273050" y="191770"/>
                    <a:pt x="311150" y="562610"/>
                    <a:pt x="294640" y="636270"/>
                  </a:cubicBezTo>
                  <a:cubicBezTo>
                    <a:pt x="289560" y="661670"/>
                    <a:pt x="280670" y="670560"/>
                    <a:pt x="266700" y="684530"/>
                  </a:cubicBezTo>
                  <a:cubicBezTo>
                    <a:pt x="248920" y="701040"/>
                    <a:pt x="217170" y="717550"/>
                    <a:pt x="190500" y="720090"/>
                  </a:cubicBezTo>
                  <a:cubicBezTo>
                    <a:pt x="165100" y="722630"/>
                    <a:pt x="132080" y="712470"/>
                    <a:pt x="110490" y="695960"/>
                  </a:cubicBezTo>
                  <a:cubicBezTo>
                    <a:pt x="90170" y="680720"/>
                    <a:pt x="66040" y="626110"/>
                    <a:pt x="66040" y="6261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-2417232">
            <a:off x="358789" y="2576299"/>
            <a:ext cx="592455" cy="303847"/>
            <a:chOff x="0" y="0"/>
            <a:chExt cx="789940" cy="405130"/>
          </a:xfrm>
        </p:grpSpPr>
        <p:sp>
          <p:nvSpPr>
            <p:cNvPr id="11" name="Freeform 11"/>
            <p:cNvSpPr/>
            <p:nvPr/>
          </p:nvSpPr>
          <p:spPr>
            <a:xfrm>
              <a:off x="48260" y="48260"/>
              <a:ext cx="692150" cy="309880"/>
            </a:xfrm>
            <a:custGeom>
              <a:avLst/>
              <a:gdLst/>
              <a:ahLst/>
              <a:cxnLst/>
              <a:rect l="l" t="t" r="r" b="b"/>
              <a:pathLst>
                <a:path w="692150" h="309880">
                  <a:moveTo>
                    <a:pt x="553720" y="278130"/>
                  </a:moveTo>
                  <a:cubicBezTo>
                    <a:pt x="351790" y="256540"/>
                    <a:pt x="271780" y="250190"/>
                    <a:pt x="234950" y="262890"/>
                  </a:cubicBezTo>
                  <a:cubicBezTo>
                    <a:pt x="214630" y="270510"/>
                    <a:pt x="210820" y="288290"/>
                    <a:pt x="191770" y="294640"/>
                  </a:cubicBezTo>
                  <a:cubicBezTo>
                    <a:pt x="170180" y="303530"/>
                    <a:pt x="133350" y="309880"/>
                    <a:pt x="106680" y="303530"/>
                  </a:cubicBezTo>
                  <a:cubicBezTo>
                    <a:pt x="80010" y="297180"/>
                    <a:pt x="49530" y="275590"/>
                    <a:pt x="33020" y="259080"/>
                  </a:cubicBezTo>
                  <a:cubicBezTo>
                    <a:pt x="21590" y="246380"/>
                    <a:pt x="16510" y="234950"/>
                    <a:pt x="11430" y="220980"/>
                  </a:cubicBezTo>
                  <a:cubicBezTo>
                    <a:pt x="6350" y="207010"/>
                    <a:pt x="1270" y="194310"/>
                    <a:pt x="2540" y="177800"/>
                  </a:cubicBezTo>
                  <a:cubicBezTo>
                    <a:pt x="3810" y="154940"/>
                    <a:pt x="10160" y="118110"/>
                    <a:pt x="26670" y="95250"/>
                  </a:cubicBezTo>
                  <a:cubicBezTo>
                    <a:pt x="41910" y="73660"/>
                    <a:pt x="69850" y="52070"/>
                    <a:pt x="95250" y="44450"/>
                  </a:cubicBezTo>
                  <a:cubicBezTo>
                    <a:pt x="120650" y="35560"/>
                    <a:pt x="158750" y="39370"/>
                    <a:pt x="181610" y="45720"/>
                  </a:cubicBezTo>
                  <a:cubicBezTo>
                    <a:pt x="196850" y="49530"/>
                    <a:pt x="207010" y="54610"/>
                    <a:pt x="219710" y="66040"/>
                  </a:cubicBezTo>
                  <a:cubicBezTo>
                    <a:pt x="236220" y="81280"/>
                    <a:pt x="260350" y="111760"/>
                    <a:pt x="266700" y="137160"/>
                  </a:cubicBezTo>
                  <a:cubicBezTo>
                    <a:pt x="274320" y="163830"/>
                    <a:pt x="271780" y="198120"/>
                    <a:pt x="261620" y="223520"/>
                  </a:cubicBezTo>
                  <a:cubicBezTo>
                    <a:pt x="251460" y="248920"/>
                    <a:pt x="228600" y="274320"/>
                    <a:pt x="205740" y="288290"/>
                  </a:cubicBezTo>
                  <a:cubicBezTo>
                    <a:pt x="181610" y="302260"/>
                    <a:pt x="148590" y="309880"/>
                    <a:pt x="120650" y="306070"/>
                  </a:cubicBezTo>
                  <a:cubicBezTo>
                    <a:pt x="93980" y="303530"/>
                    <a:pt x="63500" y="288290"/>
                    <a:pt x="43180" y="269240"/>
                  </a:cubicBezTo>
                  <a:cubicBezTo>
                    <a:pt x="24130" y="250190"/>
                    <a:pt x="8890" y="215900"/>
                    <a:pt x="3810" y="193040"/>
                  </a:cubicBezTo>
                  <a:cubicBezTo>
                    <a:pt x="0" y="176530"/>
                    <a:pt x="0" y="165100"/>
                    <a:pt x="3810" y="148590"/>
                  </a:cubicBezTo>
                  <a:cubicBezTo>
                    <a:pt x="10160" y="127000"/>
                    <a:pt x="29210" y="93980"/>
                    <a:pt x="45720" y="73660"/>
                  </a:cubicBezTo>
                  <a:cubicBezTo>
                    <a:pt x="59690" y="55880"/>
                    <a:pt x="71120" y="43180"/>
                    <a:pt x="93980" y="31750"/>
                  </a:cubicBezTo>
                  <a:cubicBezTo>
                    <a:pt x="132080" y="13970"/>
                    <a:pt x="207010" y="6350"/>
                    <a:pt x="264160" y="2540"/>
                  </a:cubicBezTo>
                  <a:cubicBezTo>
                    <a:pt x="322580" y="0"/>
                    <a:pt x="383540" y="7620"/>
                    <a:pt x="441960" y="15240"/>
                  </a:cubicBezTo>
                  <a:cubicBezTo>
                    <a:pt x="501650" y="22860"/>
                    <a:pt x="575310" y="27940"/>
                    <a:pt x="617220" y="49530"/>
                  </a:cubicBezTo>
                  <a:cubicBezTo>
                    <a:pt x="645160" y="63500"/>
                    <a:pt x="666750" y="86360"/>
                    <a:pt x="678180" y="106680"/>
                  </a:cubicBezTo>
                  <a:cubicBezTo>
                    <a:pt x="688340" y="124460"/>
                    <a:pt x="692150" y="143510"/>
                    <a:pt x="690880" y="162560"/>
                  </a:cubicBezTo>
                  <a:cubicBezTo>
                    <a:pt x="688340" y="186690"/>
                    <a:pt x="674370" y="222250"/>
                    <a:pt x="657860" y="241300"/>
                  </a:cubicBezTo>
                  <a:cubicBezTo>
                    <a:pt x="645160" y="256540"/>
                    <a:pt x="627380" y="266700"/>
                    <a:pt x="610870" y="273050"/>
                  </a:cubicBezTo>
                  <a:cubicBezTo>
                    <a:pt x="593090" y="278130"/>
                    <a:pt x="553720" y="278130"/>
                    <a:pt x="553720" y="27813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-2085534">
            <a:off x="13140493" y="4994233"/>
            <a:ext cx="552469" cy="522858"/>
            <a:chOff x="0" y="0"/>
            <a:chExt cx="900430" cy="852170"/>
          </a:xfrm>
        </p:grpSpPr>
        <p:sp>
          <p:nvSpPr>
            <p:cNvPr id="13" name="Freeform 13"/>
            <p:cNvSpPr/>
            <p:nvPr/>
          </p:nvSpPr>
          <p:spPr>
            <a:xfrm>
              <a:off x="45720" y="48260"/>
              <a:ext cx="807720" cy="755650"/>
            </a:xfrm>
            <a:custGeom>
              <a:avLst/>
              <a:gdLst/>
              <a:ahLst/>
              <a:cxnLst/>
              <a:rect l="l" t="t" r="r" b="b"/>
              <a:pathLst>
                <a:path w="807720" h="755650">
                  <a:moveTo>
                    <a:pt x="208280" y="41910"/>
                  </a:moveTo>
                  <a:cubicBezTo>
                    <a:pt x="571500" y="396240"/>
                    <a:pt x="746760" y="495300"/>
                    <a:pt x="786130" y="544830"/>
                  </a:cubicBezTo>
                  <a:cubicBezTo>
                    <a:pt x="798830" y="561340"/>
                    <a:pt x="800100" y="568960"/>
                    <a:pt x="802640" y="585470"/>
                  </a:cubicBezTo>
                  <a:cubicBezTo>
                    <a:pt x="806450" y="608330"/>
                    <a:pt x="805180" y="646430"/>
                    <a:pt x="795020" y="671830"/>
                  </a:cubicBezTo>
                  <a:cubicBezTo>
                    <a:pt x="783590" y="697230"/>
                    <a:pt x="759460" y="722630"/>
                    <a:pt x="735330" y="735330"/>
                  </a:cubicBezTo>
                  <a:cubicBezTo>
                    <a:pt x="711200" y="749300"/>
                    <a:pt x="676910" y="755650"/>
                    <a:pt x="650240" y="750570"/>
                  </a:cubicBezTo>
                  <a:cubicBezTo>
                    <a:pt x="622300" y="746760"/>
                    <a:pt x="591820" y="731520"/>
                    <a:pt x="572770" y="711200"/>
                  </a:cubicBezTo>
                  <a:cubicBezTo>
                    <a:pt x="553720" y="692150"/>
                    <a:pt x="539750" y="655320"/>
                    <a:pt x="534670" y="632460"/>
                  </a:cubicBezTo>
                  <a:cubicBezTo>
                    <a:pt x="532130" y="615950"/>
                    <a:pt x="533400" y="603250"/>
                    <a:pt x="537210" y="589280"/>
                  </a:cubicBezTo>
                  <a:cubicBezTo>
                    <a:pt x="539750" y="574040"/>
                    <a:pt x="543560" y="561340"/>
                    <a:pt x="552450" y="547370"/>
                  </a:cubicBezTo>
                  <a:cubicBezTo>
                    <a:pt x="566420" y="528320"/>
                    <a:pt x="593090" y="501650"/>
                    <a:pt x="618490" y="490220"/>
                  </a:cubicBezTo>
                  <a:cubicBezTo>
                    <a:pt x="643890" y="480060"/>
                    <a:pt x="681990" y="480060"/>
                    <a:pt x="704850" y="485140"/>
                  </a:cubicBezTo>
                  <a:cubicBezTo>
                    <a:pt x="721360" y="487680"/>
                    <a:pt x="731520" y="492760"/>
                    <a:pt x="745490" y="502920"/>
                  </a:cubicBezTo>
                  <a:cubicBezTo>
                    <a:pt x="763270" y="516890"/>
                    <a:pt x="789940" y="544830"/>
                    <a:pt x="798830" y="571500"/>
                  </a:cubicBezTo>
                  <a:cubicBezTo>
                    <a:pt x="807720" y="596900"/>
                    <a:pt x="807720" y="632460"/>
                    <a:pt x="800100" y="657860"/>
                  </a:cubicBezTo>
                  <a:cubicBezTo>
                    <a:pt x="791210" y="684530"/>
                    <a:pt x="770890" y="712470"/>
                    <a:pt x="748030" y="727710"/>
                  </a:cubicBezTo>
                  <a:cubicBezTo>
                    <a:pt x="725170" y="744220"/>
                    <a:pt x="688340" y="751840"/>
                    <a:pt x="664210" y="751840"/>
                  </a:cubicBezTo>
                  <a:cubicBezTo>
                    <a:pt x="647700" y="753110"/>
                    <a:pt x="638810" y="749300"/>
                    <a:pt x="621030" y="742950"/>
                  </a:cubicBezTo>
                  <a:cubicBezTo>
                    <a:pt x="594360" y="732790"/>
                    <a:pt x="552450" y="708660"/>
                    <a:pt x="518160" y="684530"/>
                  </a:cubicBezTo>
                  <a:cubicBezTo>
                    <a:pt x="481330" y="659130"/>
                    <a:pt x="450850" y="635000"/>
                    <a:pt x="407670" y="594360"/>
                  </a:cubicBezTo>
                  <a:cubicBezTo>
                    <a:pt x="335280" y="530860"/>
                    <a:pt x="210820" y="405130"/>
                    <a:pt x="139700" y="326390"/>
                  </a:cubicBezTo>
                  <a:cubicBezTo>
                    <a:pt x="87630" y="270510"/>
                    <a:pt x="33020" y="220980"/>
                    <a:pt x="13970" y="175260"/>
                  </a:cubicBezTo>
                  <a:cubicBezTo>
                    <a:pt x="1270" y="144780"/>
                    <a:pt x="0" y="115570"/>
                    <a:pt x="5080" y="91440"/>
                  </a:cubicBezTo>
                  <a:cubicBezTo>
                    <a:pt x="7620" y="72390"/>
                    <a:pt x="19050" y="54610"/>
                    <a:pt x="30480" y="41910"/>
                  </a:cubicBezTo>
                  <a:cubicBezTo>
                    <a:pt x="43180" y="27940"/>
                    <a:pt x="60960" y="16510"/>
                    <a:pt x="77470" y="10160"/>
                  </a:cubicBezTo>
                  <a:cubicBezTo>
                    <a:pt x="95250" y="2540"/>
                    <a:pt x="114300" y="0"/>
                    <a:pt x="134620" y="2540"/>
                  </a:cubicBezTo>
                  <a:cubicBezTo>
                    <a:pt x="157480" y="7620"/>
                    <a:pt x="208280" y="41910"/>
                    <a:pt x="208280" y="419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 rot="-2085534">
            <a:off x="12999923" y="4747887"/>
            <a:ext cx="621819" cy="241559"/>
            <a:chOff x="0" y="0"/>
            <a:chExt cx="1013460" cy="393700"/>
          </a:xfrm>
        </p:grpSpPr>
        <p:sp>
          <p:nvSpPr>
            <p:cNvPr id="15" name="Freeform 15"/>
            <p:cNvSpPr/>
            <p:nvPr/>
          </p:nvSpPr>
          <p:spPr>
            <a:xfrm>
              <a:off x="49530" y="46990"/>
              <a:ext cx="918210" cy="308610"/>
            </a:xfrm>
            <a:custGeom>
              <a:avLst/>
              <a:gdLst/>
              <a:ahLst/>
              <a:cxnLst/>
              <a:rect l="l" t="t" r="r" b="b"/>
              <a:pathLst>
                <a:path w="918210" h="308610">
                  <a:moveTo>
                    <a:pt x="124460" y="46990"/>
                  </a:moveTo>
                  <a:cubicBezTo>
                    <a:pt x="711200" y="30480"/>
                    <a:pt x="711200" y="19050"/>
                    <a:pt x="726440" y="13970"/>
                  </a:cubicBezTo>
                  <a:cubicBezTo>
                    <a:pt x="749300" y="6350"/>
                    <a:pt x="786130" y="0"/>
                    <a:pt x="812800" y="6350"/>
                  </a:cubicBezTo>
                  <a:cubicBezTo>
                    <a:pt x="839470" y="12700"/>
                    <a:pt x="869950" y="35560"/>
                    <a:pt x="885190" y="52070"/>
                  </a:cubicBezTo>
                  <a:cubicBezTo>
                    <a:pt x="896620" y="63500"/>
                    <a:pt x="902970" y="73660"/>
                    <a:pt x="906780" y="90170"/>
                  </a:cubicBezTo>
                  <a:cubicBezTo>
                    <a:pt x="913130" y="111760"/>
                    <a:pt x="918210" y="149860"/>
                    <a:pt x="909320" y="175260"/>
                  </a:cubicBezTo>
                  <a:cubicBezTo>
                    <a:pt x="901700" y="201930"/>
                    <a:pt x="881380" y="229870"/>
                    <a:pt x="859790" y="246380"/>
                  </a:cubicBezTo>
                  <a:cubicBezTo>
                    <a:pt x="838200" y="261620"/>
                    <a:pt x="801370" y="270510"/>
                    <a:pt x="777240" y="271780"/>
                  </a:cubicBezTo>
                  <a:cubicBezTo>
                    <a:pt x="760730" y="273050"/>
                    <a:pt x="749300" y="270510"/>
                    <a:pt x="735330" y="264160"/>
                  </a:cubicBezTo>
                  <a:cubicBezTo>
                    <a:pt x="713740" y="254000"/>
                    <a:pt x="681990" y="232410"/>
                    <a:pt x="668020" y="209550"/>
                  </a:cubicBezTo>
                  <a:cubicBezTo>
                    <a:pt x="652780" y="186690"/>
                    <a:pt x="643890" y="153670"/>
                    <a:pt x="646430" y="127000"/>
                  </a:cubicBezTo>
                  <a:cubicBezTo>
                    <a:pt x="648970" y="99060"/>
                    <a:pt x="661670" y="67310"/>
                    <a:pt x="679450" y="46990"/>
                  </a:cubicBezTo>
                  <a:cubicBezTo>
                    <a:pt x="698500" y="26670"/>
                    <a:pt x="732790" y="11430"/>
                    <a:pt x="754380" y="5080"/>
                  </a:cubicBezTo>
                  <a:cubicBezTo>
                    <a:pt x="770890" y="0"/>
                    <a:pt x="782320" y="0"/>
                    <a:pt x="798830" y="3810"/>
                  </a:cubicBezTo>
                  <a:cubicBezTo>
                    <a:pt x="820420" y="7620"/>
                    <a:pt x="857250" y="26670"/>
                    <a:pt x="875030" y="40640"/>
                  </a:cubicBezTo>
                  <a:cubicBezTo>
                    <a:pt x="887730" y="52070"/>
                    <a:pt x="895350" y="60960"/>
                    <a:pt x="901700" y="76200"/>
                  </a:cubicBezTo>
                  <a:cubicBezTo>
                    <a:pt x="909320" y="97790"/>
                    <a:pt x="918210" y="134620"/>
                    <a:pt x="913130" y="161290"/>
                  </a:cubicBezTo>
                  <a:cubicBezTo>
                    <a:pt x="908050" y="187960"/>
                    <a:pt x="896620" y="217170"/>
                    <a:pt x="871220" y="236220"/>
                  </a:cubicBezTo>
                  <a:cubicBezTo>
                    <a:pt x="829310" y="269240"/>
                    <a:pt x="735330" y="284480"/>
                    <a:pt x="651510" y="295910"/>
                  </a:cubicBezTo>
                  <a:cubicBezTo>
                    <a:pt x="544830" y="308610"/>
                    <a:pt x="383540" y="297180"/>
                    <a:pt x="279400" y="292100"/>
                  </a:cubicBezTo>
                  <a:cubicBezTo>
                    <a:pt x="204470" y="289560"/>
                    <a:pt x="132080" y="294640"/>
                    <a:pt x="85090" y="278130"/>
                  </a:cubicBezTo>
                  <a:cubicBezTo>
                    <a:pt x="55880" y="265430"/>
                    <a:pt x="33020" y="246380"/>
                    <a:pt x="19050" y="227330"/>
                  </a:cubicBezTo>
                  <a:cubicBezTo>
                    <a:pt x="7620" y="210820"/>
                    <a:pt x="2540" y="191770"/>
                    <a:pt x="1270" y="172720"/>
                  </a:cubicBezTo>
                  <a:cubicBezTo>
                    <a:pt x="0" y="154940"/>
                    <a:pt x="3810" y="134620"/>
                    <a:pt x="11430" y="118110"/>
                  </a:cubicBezTo>
                  <a:cubicBezTo>
                    <a:pt x="19050" y="100330"/>
                    <a:pt x="29210" y="83820"/>
                    <a:pt x="45720" y="72390"/>
                  </a:cubicBezTo>
                  <a:cubicBezTo>
                    <a:pt x="64770" y="58420"/>
                    <a:pt x="124460" y="46990"/>
                    <a:pt x="124460" y="4699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 rot="-2085534">
            <a:off x="13055308" y="5301062"/>
            <a:ext cx="287533" cy="490131"/>
            <a:chOff x="0" y="0"/>
            <a:chExt cx="468630" cy="798830"/>
          </a:xfrm>
        </p:grpSpPr>
        <p:sp>
          <p:nvSpPr>
            <p:cNvPr id="17" name="Freeform 17"/>
            <p:cNvSpPr/>
            <p:nvPr/>
          </p:nvSpPr>
          <p:spPr>
            <a:xfrm>
              <a:off x="44450" y="43180"/>
              <a:ext cx="379730" cy="706120"/>
            </a:xfrm>
            <a:custGeom>
              <a:avLst/>
              <a:gdLst/>
              <a:ahLst/>
              <a:cxnLst/>
              <a:rect l="l" t="t" r="r" b="b"/>
              <a:pathLst>
                <a:path w="379730" h="706120">
                  <a:moveTo>
                    <a:pt x="236220" y="106680"/>
                  </a:moveTo>
                  <a:cubicBezTo>
                    <a:pt x="299720" y="463550"/>
                    <a:pt x="356870" y="494030"/>
                    <a:pt x="369570" y="533400"/>
                  </a:cubicBezTo>
                  <a:cubicBezTo>
                    <a:pt x="379730" y="562610"/>
                    <a:pt x="377190" y="591820"/>
                    <a:pt x="369570" y="617220"/>
                  </a:cubicBezTo>
                  <a:cubicBezTo>
                    <a:pt x="360680" y="641350"/>
                    <a:pt x="339090" y="668020"/>
                    <a:pt x="317500" y="683260"/>
                  </a:cubicBezTo>
                  <a:cubicBezTo>
                    <a:pt x="295910" y="697230"/>
                    <a:pt x="262890" y="706120"/>
                    <a:pt x="236220" y="703580"/>
                  </a:cubicBezTo>
                  <a:cubicBezTo>
                    <a:pt x="210820" y="702310"/>
                    <a:pt x="179070" y="689610"/>
                    <a:pt x="160020" y="671830"/>
                  </a:cubicBezTo>
                  <a:cubicBezTo>
                    <a:pt x="139700" y="655320"/>
                    <a:pt x="121920" y="626110"/>
                    <a:pt x="116840" y="599440"/>
                  </a:cubicBezTo>
                  <a:cubicBezTo>
                    <a:pt x="111760" y="574040"/>
                    <a:pt x="119380" y="538480"/>
                    <a:pt x="127000" y="516890"/>
                  </a:cubicBezTo>
                  <a:cubicBezTo>
                    <a:pt x="133350" y="501650"/>
                    <a:pt x="139700" y="492760"/>
                    <a:pt x="151130" y="482600"/>
                  </a:cubicBezTo>
                  <a:cubicBezTo>
                    <a:pt x="168910" y="467360"/>
                    <a:pt x="203200" y="449580"/>
                    <a:pt x="226060" y="444500"/>
                  </a:cubicBezTo>
                  <a:cubicBezTo>
                    <a:pt x="241300" y="440690"/>
                    <a:pt x="252730" y="440690"/>
                    <a:pt x="267970" y="444500"/>
                  </a:cubicBezTo>
                  <a:cubicBezTo>
                    <a:pt x="289560" y="449580"/>
                    <a:pt x="325120" y="469900"/>
                    <a:pt x="341630" y="485140"/>
                  </a:cubicBezTo>
                  <a:cubicBezTo>
                    <a:pt x="353060" y="495300"/>
                    <a:pt x="359410" y="504190"/>
                    <a:pt x="364490" y="519430"/>
                  </a:cubicBezTo>
                  <a:cubicBezTo>
                    <a:pt x="372110" y="541020"/>
                    <a:pt x="375920" y="580390"/>
                    <a:pt x="373380" y="603250"/>
                  </a:cubicBezTo>
                  <a:cubicBezTo>
                    <a:pt x="370840" y="618490"/>
                    <a:pt x="365760" y="629920"/>
                    <a:pt x="356870" y="642620"/>
                  </a:cubicBezTo>
                  <a:cubicBezTo>
                    <a:pt x="342900" y="660400"/>
                    <a:pt x="312420" y="685800"/>
                    <a:pt x="292100" y="695960"/>
                  </a:cubicBezTo>
                  <a:cubicBezTo>
                    <a:pt x="278130" y="702310"/>
                    <a:pt x="266700" y="704850"/>
                    <a:pt x="251460" y="704850"/>
                  </a:cubicBezTo>
                  <a:cubicBezTo>
                    <a:pt x="228600" y="703580"/>
                    <a:pt x="198120" y="695960"/>
                    <a:pt x="170180" y="680720"/>
                  </a:cubicBezTo>
                  <a:cubicBezTo>
                    <a:pt x="135890" y="662940"/>
                    <a:pt x="90170" y="631190"/>
                    <a:pt x="67310" y="594360"/>
                  </a:cubicBezTo>
                  <a:cubicBezTo>
                    <a:pt x="43180" y="554990"/>
                    <a:pt x="41910" y="508000"/>
                    <a:pt x="31750" y="449580"/>
                  </a:cubicBezTo>
                  <a:cubicBezTo>
                    <a:pt x="19050" y="364490"/>
                    <a:pt x="0" y="200660"/>
                    <a:pt x="6350" y="130810"/>
                  </a:cubicBezTo>
                  <a:cubicBezTo>
                    <a:pt x="10160" y="95250"/>
                    <a:pt x="15240" y="71120"/>
                    <a:pt x="27940" y="52070"/>
                  </a:cubicBezTo>
                  <a:cubicBezTo>
                    <a:pt x="38100" y="35560"/>
                    <a:pt x="52070" y="22860"/>
                    <a:pt x="69850" y="15240"/>
                  </a:cubicBezTo>
                  <a:cubicBezTo>
                    <a:pt x="91440" y="6350"/>
                    <a:pt x="125730" y="0"/>
                    <a:pt x="151130" y="7620"/>
                  </a:cubicBezTo>
                  <a:cubicBezTo>
                    <a:pt x="175260" y="13970"/>
                    <a:pt x="203200" y="35560"/>
                    <a:pt x="217170" y="54610"/>
                  </a:cubicBezTo>
                  <a:cubicBezTo>
                    <a:pt x="228600" y="69850"/>
                    <a:pt x="236220" y="106680"/>
                    <a:pt x="236220" y="10668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18" name="Freeform 18"/>
          <p:cNvSpPr/>
          <p:nvPr/>
        </p:nvSpPr>
        <p:spPr>
          <a:xfrm>
            <a:off x="15412853" y="-367037"/>
            <a:ext cx="3692894" cy="2316452"/>
          </a:xfrm>
          <a:custGeom>
            <a:avLst/>
            <a:gdLst/>
            <a:ahLst/>
            <a:cxnLst/>
            <a:rect l="l" t="t" r="r" b="b"/>
            <a:pathLst>
              <a:path w="3692894" h="2316452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3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08282" flipH="1">
            <a:off x="15390590" y="2224730"/>
            <a:ext cx="2659752" cy="3491322"/>
          </a:xfrm>
          <a:custGeom>
            <a:avLst/>
            <a:gdLst/>
            <a:ahLst/>
            <a:cxnLst/>
            <a:rect l="l" t="t" r="r" b="b"/>
            <a:pathLst>
              <a:path w="2659752" h="349132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14">
              <a:alphaModFix amt="31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5826499" y="5943729"/>
            <a:ext cx="7772249" cy="1416774"/>
            <a:chOff x="0" y="0"/>
            <a:chExt cx="9618986" cy="2180561"/>
          </a:xfrm>
        </p:grpSpPr>
        <p:sp>
          <p:nvSpPr>
            <p:cNvPr id="21" name="Freeform 21"/>
            <p:cNvSpPr/>
            <p:nvPr/>
          </p:nvSpPr>
          <p:spPr>
            <a:xfrm>
              <a:off x="83130" y="104922"/>
              <a:ext cx="9450539" cy="1966154"/>
            </a:xfrm>
            <a:custGeom>
              <a:avLst/>
              <a:gdLst/>
              <a:ahLst/>
              <a:cxnLst/>
              <a:rect l="l" t="t" r="r" b="b"/>
              <a:pathLst>
                <a:path w="9450539" h="1966154">
                  <a:moveTo>
                    <a:pt x="402523" y="127732"/>
                  </a:moveTo>
                  <a:cubicBezTo>
                    <a:pt x="5532503" y="182474"/>
                    <a:pt x="8536111" y="0"/>
                    <a:pt x="9013014" y="77552"/>
                  </a:cubicBezTo>
                  <a:cubicBezTo>
                    <a:pt x="9091767" y="91237"/>
                    <a:pt x="9107081" y="95799"/>
                    <a:pt x="9150834" y="123170"/>
                  </a:cubicBezTo>
                  <a:cubicBezTo>
                    <a:pt x="9194587" y="155103"/>
                    <a:pt x="9238339" y="205283"/>
                    <a:pt x="9275529" y="264587"/>
                  </a:cubicBezTo>
                  <a:cubicBezTo>
                    <a:pt x="9312718" y="319329"/>
                    <a:pt x="9347720" y="396881"/>
                    <a:pt x="9371784" y="474432"/>
                  </a:cubicBezTo>
                  <a:cubicBezTo>
                    <a:pt x="9398035" y="556545"/>
                    <a:pt x="9419912" y="647782"/>
                    <a:pt x="9430850" y="743581"/>
                  </a:cubicBezTo>
                  <a:cubicBezTo>
                    <a:pt x="9443975" y="834818"/>
                    <a:pt x="9450538" y="939740"/>
                    <a:pt x="9446163" y="1035539"/>
                  </a:cubicBezTo>
                  <a:cubicBezTo>
                    <a:pt x="9443975" y="1131337"/>
                    <a:pt x="9433037" y="1231698"/>
                    <a:pt x="9417724" y="1322935"/>
                  </a:cubicBezTo>
                  <a:cubicBezTo>
                    <a:pt x="9400223" y="1409610"/>
                    <a:pt x="9373972" y="1500847"/>
                    <a:pt x="9343344" y="1573836"/>
                  </a:cubicBezTo>
                  <a:cubicBezTo>
                    <a:pt x="9314906" y="1646826"/>
                    <a:pt x="9275529" y="1710691"/>
                    <a:pt x="9236151" y="1760872"/>
                  </a:cubicBezTo>
                  <a:cubicBezTo>
                    <a:pt x="9196774" y="1811052"/>
                    <a:pt x="9150834" y="1852109"/>
                    <a:pt x="9107081" y="1870356"/>
                  </a:cubicBezTo>
                  <a:cubicBezTo>
                    <a:pt x="9061141" y="1893165"/>
                    <a:pt x="9010826" y="1897727"/>
                    <a:pt x="8964886" y="1888603"/>
                  </a:cubicBezTo>
                  <a:cubicBezTo>
                    <a:pt x="8918945" y="1874918"/>
                    <a:pt x="8873005" y="1847547"/>
                    <a:pt x="8829252" y="1806490"/>
                  </a:cubicBezTo>
                  <a:cubicBezTo>
                    <a:pt x="8787688" y="1769995"/>
                    <a:pt x="8746123" y="1710691"/>
                    <a:pt x="8713309" y="1642264"/>
                  </a:cubicBezTo>
                  <a:cubicBezTo>
                    <a:pt x="8680495" y="1578398"/>
                    <a:pt x="8649868" y="1496285"/>
                    <a:pt x="8627992" y="1409610"/>
                  </a:cubicBezTo>
                  <a:cubicBezTo>
                    <a:pt x="8606116" y="1322935"/>
                    <a:pt x="8590802" y="1227136"/>
                    <a:pt x="8584239" y="1131337"/>
                  </a:cubicBezTo>
                  <a:cubicBezTo>
                    <a:pt x="8575489" y="1035539"/>
                    <a:pt x="8575489" y="935178"/>
                    <a:pt x="8584239" y="839380"/>
                  </a:cubicBezTo>
                  <a:cubicBezTo>
                    <a:pt x="8590802" y="743581"/>
                    <a:pt x="8606116" y="643220"/>
                    <a:pt x="8627992" y="561107"/>
                  </a:cubicBezTo>
                  <a:cubicBezTo>
                    <a:pt x="8649868" y="474432"/>
                    <a:pt x="8680495" y="392319"/>
                    <a:pt x="8713309" y="328453"/>
                  </a:cubicBezTo>
                  <a:cubicBezTo>
                    <a:pt x="8746123" y="260025"/>
                    <a:pt x="8787688" y="200722"/>
                    <a:pt x="8829252" y="159665"/>
                  </a:cubicBezTo>
                  <a:cubicBezTo>
                    <a:pt x="8873005" y="123170"/>
                    <a:pt x="8918945" y="91237"/>
                    <a:pt x="8964886" y="82114"/>
                  </a:cubicBezTo>
                  <a:cubicBezTo>
                    <a:pt x="9010826" y="72990"/>
                    <a:pt x="9061141" y="77552"/>
                    <a:pt x="9107081" y="100361"/>
                  </a:cubicBezTo>
                  <a:cubicBezTo>
                    <a:pt x="9150834" y="118608"/>
                    <a:pt x="9196774" y="159665"/>
                    <a:pt x="9236151" y="209845"/>
                  </a:cubicBezTo>
                  <a:cubicBezTo>
                    <a:pt x="9277716" y="255464"/>
                    <a:pt x="9314906" y="323891"/>
                    <a:pt x="9343344" y="396881"/>
                  </a:cubicBezTo>
                  <a:cubicBezTo>
                    <a:pt x="9373972" y="469870"/>
                    <a:pt x="9400223" y="561107"/>
                    <a:pt x="9417724" y="647782"/>
                  </a:cubicBezTo>
                  <a:cubicBezTo>
                    <a:pt x="9433037" y="739019"/>
                    <a:pt x="9443975" y="839380"/>
                    <a:pt x="9446163" y="935178"/>
                  </a:cubicBezTo>
                  <a:cubicBezTo>
                    <a:pt x="9450538" y="1030977"/>
                    <a:pt x="9443975" y="1135899"/>
                    <a:pt x="9430850" y="1227136"/>
                  </a:cubicBezTo>
                  <a:cubicBezTo>
                    <a:pt x="9419912" y="1322935"/>
                    <a:pt x="9398035" y="1414172"/>
                    <a:pt x="9371784" y="1496285"/>
                  </a:cubicBezTo>
                  <a:cubicBezTo>
                    <a:pt x="9347720" y="1573836"/>
                    <a:pt x="9312718" y="1646826"/>
                    <a:pt x="9275529" y="1706130"/>
                  </a:cubicBezTo>
                  <a:cubicBezTo>
                    <a:pt x="9238339" y="1765434"/>
                    <a:pt x="9194587" y="1815614"/>
                    <a:pt x="9150834" y="1842985"/>
                  </a:cubicBezTo>
                  <a:cubicBezTo>
                    <a:pt x="9107081" y="1874918"/>
                    <a:pt x="9091767" y="1879480"/>
                    <a:pt x="9013014" y="1893165"/>
                  </a:cubicBezTo>
                  <a:cubicBezTo>
                    <a:pt x="8536111" y="1966155"/>
                    <a:pt x="5409996" y="1797367"/>
                    <a:pt x="4001165" y="1783681"/>
                  </a:cubicBezTo>
                  <a:cubicBezTo>
                    <a:pt x="2972982" y="1774557"/>
                    <a:pt x="1999489" y="1811052"/>
                    <a:pt x="1332263" y="1788243"/>
                  </a:cubicBezTo>
                  <a:cubicBezTo>
                    <a:pt x="931928" y="1779119"/>
                    <a:pt x="564407" y="1788243"/>
                    <a:pt x="371896" y="1728939"/>
                  </a:cubicBezTo>
                  <a:cubicBezTo>
                    <a:pt x="288766" y="1701568"/>
                    <a:pt x="240638" y="1665073"/>
                    <a:pt x="196886" y="1619455"/>
                  </a:cubicBezTo>
                  <a:cubicBezTo>
                    <a:pt x="164072" y="1587522"/>
                    <a:pt x="144383" y="1551027"/>
                    <a:pt x="122507" y="1505409"/>
                  </a:cubicBezTo>
                  <a:cubicBezTo>
                    <a:pt x="100630" y="1459790"/>
                    <a:pt x="80942" y="1418734"/>
                    <a:pt x="63441" y="1354868"/>
                  </a:cubicBezTo>
                  <a:cubicBezTo>
                    <a:pt x="39377" y="1263631"/>
                    <a:pt x="10938" y="1117652"/>
                    <a:pt x="4375" y="989920"/>
                  </a:cubicBezTo>
                  <a:cubicBezTo>
                    <a:pt x="0" y="866751"/>
                    <a:pt x="10938" y="725333"/>
                    <a:pt x="35002" y="611287"/>
                  </a:cubicBezTo>
                  <a:cubicBezTo>
                    <a:pt x="56878" y="497241"/>
                    <a:pt x="98443" y="387757"/>
                    <a:pt x="144383" y="305644"/>
                  </a:cubicBezTo>
                  <a:cubicBezTo>
                    <a:pt x="190323" y="228093"/>
                    <a:pt x="262515" y="168789"/>
                    <a:pt x="310642" y="141418"/>
                  </a:cubicBezTo>
                  <a:cubicBezTo>
                    <a:pt x="345644" y="123170"/>
                    <a:pt x="402523" y="127732"/>
                    <a:pt x="402523" y="127732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96497" y="2112067"/>
            <a:ext cx="16443530" cy="3306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8"/>
              </a:lnSpc>
            </a:pPr>
            <a:r>
              <a:rPr lang="en-US" sz="62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MediPredict – AI-IoT Predictive Maintenance for Autoclaves &amp; Ventilators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6414" y="311166"/>
            <a:ext cx="6420893" cy="1282451"/>
          </a:xfrm>
          <a:custGeom>
            <a:avLst/>
            <a:gdLst/>
            <a:ahLst/>
            <a:cxnLst/>
            <a:rect l="l" t="t" r="r" b="b"/>
            <a:pathLst>
              <a:path w="6420893" h="1282451">
                <a:moveTo>
                  <a:pt x="0" y="0"/>
                </a:moveTo>
                <a:lnTo>
                  <a:pt x="6420893" y="0"/>
                </a:lnTo>
                <a:lnTo>
                  <a:pt x="6420893" y="1282451"/>
                </a:lnTo>
                <a:lnTo>
                  <a:pt x="0" y="12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b="-5456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821280" y="157319"/>
            <a:ext cx="4969104" cy="1248487"/>
          </a:xfrm>
          <a:custGeom>
            <a:avLst/>
            <a:gdLst/>
            <a:ahLst/>
            <a:cxnLst/>
            <a:rect l="l" t="t" r="r" b="b"/>
            <a:pathLst>
              <a:path w="4969104" h="1248487">
                <a:moveTo>
                  <a:pt x="0" y="0"/>
                </a:moveTo>
                <a:lnTo>
                  <a:pt x="4969104" y="0"/>
                </a:lnTo>
                <a:lnTo>
                  <a:pt x="4969104" y="1248487"/>
                </a:lnTo>
                <a:lnTo>
                  <a:pt x="0" y="124848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94000"/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037754" y="6127272"/>
            <a:ext cx="678352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913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: </a:t>
            </a:r>
            <a:r>
              <a:rPr lang="en-US" sz="5199" b="1" dirty="0" err="1">
                <a:solidFill>
                  <a:srgbClr val="1913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MediPredict</a:t>
            </a:r>
            <a:endParaRPr lang="en-US" sz="5199" b="1" dirty="0">
              <a:solidFill>
                <a:srgbClr val="19134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70999" y="7807749"/>
            <a:ext cx="13254601" cy="2825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2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Membership no.: 1122022403 - Rahul Patil </a:t>
            </a:r>
          </a:p>
          <a:p>
            <a:pPr>
              <a:lnSpc>
                <a:spcPts val="562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1122022422 - Shivendu </a:t>
            </a:r>
            <a:r>
              <a:rPr lang="en-US"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Khanke</a:t>
            </a: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62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1122022405 - Mrunmayee </a:t>
            </a:r>
            <a:r>
              <a:rPr lang="en-US"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Talokar</a:t>
            </a: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5620"/>
              </a:lnSpc>
            </a:pP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739364" y="8050340"/>
            <a:ext cx="236842" cy="314977"/>
          </a:xfrm>
          <a:custGeom>
            <a:avLst/>
            <a:gdLst/>
            <a:ahLst/>
            <a:cxnLst/>
            <a:rect l="l" t="t" r="r" b="b"/>
            <a:pathLst>
              <a:path w="307310" h="459438">
                <a:moveTo>
                  <a:pt x="0" y="0"/>
                </a:moveTo>
                <a:lnTo>
                  <a:pt x="307310" y="0"/>
                </a:lnTo>
                <a:lnTo>
                  <a:pt x="307310" y="459438"/>
                </a:lnTo>
                <a:lnTo>
                  <a:pt x="0" y="45943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pic>
        <p:nvPicPr>
          <p:cNvPr id="28" name="media1">
            <a:hlinkClick r:id="" action="ppaction://media"/>
            <a:extLst>
              <a:ext uri="{FF2B5EF4-FFF2-40B4-BE49-F238E27FC236}">
                <a16:creationId xmlns:a16="http://schemas.microsoft.com/office/drawing/2014/main" id="{BF7D7F3C-602B-3305-B1C9-5B64009452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7217001" y="9319701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48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262171">
            <a:off x="8699606" y="-2315196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6563608" y="332299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9508" y="2308555"/>
            <a:ext cx="17608984" cy="372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spc="-87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In Indian hospitals, biomedical equipments such as Ventilators and Steam Sterilizers are critical for sustaining patient lives. However, these devices often suffer from unexpected breakdowns due to wear-and-tear, improper calibration, or delayed servicing. Currently, maintenance is largely reactive, where issues are addressed only after the device fails</a:t>
            </a:r>
          </a:p>
          <a:p>
            <a:pPr algn="l">
              <a:lnSpc>
                <a:spcPts val="4899"/>
              </a:lnSpc>
            </a:pPr>
            <a:endParaRPr lang="en-US" sz="3499" b="1" spc="-87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173694" y="52294"/>
            <a:ext cx="9940611" cy="11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95445" y="1385988"/>
            <a:ext cx="19202163" cy="101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3"/>
              </a:lnSpc>
            </a:pPr>
            <a:r>
              <a:rPr lang="en-US" sz="2909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A Journey from reactive to predictive</a:t>
            </a:r>
          </a:p>
          <a:p>
            <a:pPr algn="l">
              <a:lnSpc>
                <a:spcPts val="4073"/>
              </a:lnSpc>
            </a:pPr>
            <a:endParaRPr lang="en-US" sz="2909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837011" y="5677535"/>
            <a:ext cx="12613978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365F"/>
                </a:solidFill>
                <a:latin typeface="Canva Sans"/>
                <a:ea typeface="Canva Sans"/>
                <a:cs typeface="Canva Sans"/>
                <a:sym typeface="Canva Sans"/>
              </a:rPr>
              <a:t>Hospital biomedical devices often break down unexpectedly.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B365F"/>
                </a:solidFill>
                <a:latin typeface="Canva Sans"/>
                <a:ea typeface="Canva Sans"/>
                <a:cs typeface="Canva Sans"/>
                <a:sym typeface="Canva Sans"/>
              </a:rPr>
              <a:t>Current maintenance is reactive, not predictive.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B365F"/>
                </a:solidFill>
                <a:latin typeface="Canva Sans"/>
                <a:ea typeface="Canva Sans"/>
                <a:cs typeface="Canva Sans"/>
                <a:sym typeface="Canva Sans"/>
              </a:rPr>
              <a:t>Leads to delayed treatments and patient risk.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B365F"/>
                </a:solidFill>
                <a:latin typeface="Canva Sans"/>
                <a:ea typeface="Canva Sans"/>
                <a:cs typeface="Canva Sans"/>
                <a:sym typeface="Canva Sans"/>
              </a:rPr>
              <a:t>Causes high hospital costs due to emergency repairs.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B365F"/>
                </a:solidFill>
                <a:latin typeface="Canva Sans"/>
                <a:ea typeface="Canva Sans"/>
                <a:cs typeface="Canva Sans"/>
                <a:sym typeface="Canva Sans"/>
              </a:rPr>
              <a:t>Unplanned downtime disrupts critical patient care.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3B365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8" name="media2">
            <a:hlinkClick r:id="" action="ppaction://media"/>
            <a:extLst>
              <a:ext uri="{FF2B5EF4-FFF2-40B4-BE49-F238E27FC236}">
                <a16:creationId xmlns:a16="http://schemas.microsoft.com/office/drawing/2014/main" id="{93FD74E2-68E1-A2B1-C017-648EDC8A18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338892" y="9389612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78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-462451" y="2418820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60706" y="3215164"/>
            <a:ext cx="6434136" cy="6434136"/>
          </a:xfrm>
          <a:prstGeom prst="roundRect">
            <a:avLst>
              <a:gd name="adj" fmla="val 7869"/>
            </a:avLst>
          </a:prstGeom>
          <a:blipFill>
            <a:blip r:embed="rId8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73673" y="7591901"/>
            <a:ext cx="4642338" cy="4114800"/>
          </a:xfrm>
          <a:custGeom>
            <a:avLst/>
            <a:gdLst/>
            <a:ahLst/>
            <a:cxnLst/>
            <a:rect l="l" t="t" r="r" b="b"/>
            <a:pathLst>
              <a:path w="4642338" h="4114800">
                <a:moveTo>
                  <a:pt x="0" y="0"/>
                </a:moveTo>
                <a:lnTo>
                  <a:pt x="4642338" y="0"/>
                </a:lnTo>
                <a:lnTo>
                  <a:pt x="46423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686361" y="6744754"/>
            <a:ext cx="4781615" cy="3185751"/>
          </a:xfrm>
          <a:prstGeom prst="roundRect">
            <a:avLst>
              <a:gd name="adj" fmla="val 13933"/>
            </a:avLst>
          </a:prstGeom>
          <a:blipFill>
            <a:blip r:embed="rId11"/>
            <a:stretch>
              <a:fillRect/>
            </a:stretch>
          </a:blipFill>
          <a:ln w="38100" cap="rnd">
            <a:solidFill>
              <a:srgbClr val="000000"/>
            </a:solidFill>
            <a:prstDash val="sysDot"/>
            <a:round/>
          </a:ln>
        </p:spPr>
      </p:sp>
      <p:sp>
        <p:nvSpPr>
          <p:cNvPr id="7" name="TextBox 7"/>
          <p:cNvSpPr txBox="1"/>
          <p:nvPr/>
        </p:nvSpPr>
        <p:spPr>
          <a:xfrm>
            <a:off x="502840" y="3510915"/>
            <a:ext cx="10760668" cy="582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spc="-136" dirty="0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To develop an AI-Powered predictive maintenance IoT Device for biomedical </a:t>
            </a:r>
            <a:r>
              <a:rPr lang="en-US" sz="3600" b="1" spc="-136" dirty="0" err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equipments</a:t>
            </a:r>
            <a:r>
              <a:rPr lang="en-US" sz="3600" b="1" spc="-136" dirty="0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that will :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spc="-136" dirty="0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Predicts failures before they occur using machine learning models.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spc="-136" dirty="0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Ensures uninterrupted patient care by reducing device downtime.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spc="-136" dirty="0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Optimizes hospital costs through smarter servicing and resource allocation.</a:t>
            </a:r>
          </a:p>
          <a:p>
            <a:pPr algn="l">
              <a:lnSpc>
                <a:spcPts val="5040"/>
              </a:lnSpc>
            </a:pPr>
            <a:endParaRPr lang="en-US" sz="3600" b="1" spc="-136" dirty="0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68775" y="1813899"/>
            <a:ext cx="15750449" cy="1036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2983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Our objective is to make hospital equipment smarter, safer, and always ready when lives depend on 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00250" y="228552"/>
            <a:ext cx="12576991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Objective</a:t>
            </a:r>
          </a:p>
          <a:p>
            <a:pPr algn="ctr">
              <a:lnSpc>
                <a:spcPts val="9100"/>
              </a:lnSpc>
            </a:pPr>
            <a:endParaRPr lang="en-US" sz="6500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pic>
        <p:nvPicPr>
          <p:cNvPr id="10" name="media3">
            <a:hlinkClick r:id="" action="ppaction://media"/>
            <a:extLst>
              <a:ext uri="{FF2B5EF4-FFF2-40B4-BE49-F238E27FC236}">
                <a16:creationId xmlns:a16="http://schemas.microsoft.com/office/drawing/2014/main" id="{D1FCCB56-441E-5EF9-71CE-6669508C78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7589809" y="9485103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7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41338" flipH="1">
            <a:off x="1055036" y="1615511"/>
            <a:ext cx="8787762" cy="5515887"/>
          </a:xfrm>
          <a:custGeom>
            <a:avLst/>
            <a:gdLst/>
            <a:ahLst/>
            <a:cxnLst/>
            <a:rect l="l" t="t" r="r" b="b"/>
            <a:pathLst>
              <a:path w="8787762" h="5515887">
                <a:moveTo>
                  <a:pt x="8787762" y="0"/>
                </a:moveTo>
                <a:lnTo>
                  <a:pt x="0" y="0"/>
                </a:lnTo>
                <a:lnTo>
                  <a:pt x="0" y="5515888"/>
                </a:lnTo>
                <a:lnTo>
                  <a:pt x="8787762" y="5515888"/>
                </a:lnTo>
                <a:lnTo>
                  <a:pt x="8787762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159732" y="2005367"/>
            <a:ext cx="12085736" cy="7585954"/>
          </a:xfrm>
          <a:custGeom>
            <a:avLst/>
            <a:gdLst/>
            <a:ahLst/>
            <a:cxnLst/>
            <a:rect l="l" t="t" r="r" b="b"/>
            <a:pathLst>
              <a:path w="12085736" h="7585954">
                <a:moveTo>
                  <a:pt x="12085736" y="0"/>
                </a:moveTo>
                <a:lnTo>
                  <a:pt x="0" y="0"/>
                </a:lnTo>
                <a:lnTo>
                  <a:pt x="0" y="7585954"/>
                </a:lnTo>
                <a:lnTo>
                  <a:pt x="12085736" y="7585954"/>
                </a:lnTo>
                <a:lnTo>
                  <a:pt x="12085736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2174" y="4591988"/>
            <a:ext cx="2428154" cy="8002923"/>
          </a:xfrm>
          <a:custGeom>
            <a:avLst/>
            <a:gdLst/>
            <a:ahLst/>
            <a:cxnLst/>
            <a:rect l="l" t="t" r="r" b="b"/>
            <a:pathLst>
              <a:path w="2428154" h="8002923">
                <a:moveTo>
                  <a:pt x="0" y="0"/>
                </a:moveTo>
                <a:lnTo>
                  <a:pt x="2428154" y="0"/>
                </a:lnTo>
                <a:lnTo>
                  <a:pt x="2428154" y="8002923"/>
                </a:lnTo>
                <a:lnTo>
                  <a:pt x="0" y="8002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84644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106102" y="5699760"/>
            <a:ext cx="194310" cy="197167"/>
            <a:chOff x="0" y="0"/>
            <a:chExt cx="259080" cy="262890"/>
          </a:xfrm>
        </p:grpSpPr>
        <p:sp>
          <p:nvSpPr>
            <p:cNvPr id="6" name="Freeform 6"/>
            <p:cNvSpPr/>
            <p:nvPr/>
          </p:nvSpPr>
          <p:spPr>
            <a:xfrm>
              <a:off x="43180" y="46990"/>
              <a:ext cx="161290" cy="167640"/>
            </a:xfrm>
            <a:custGeom>
              <a:avLst/>
              <a:gdLst/>
              <a:ahLst/>
              <a:cxnLst/>
              <a:rect l="l" t="t" r="r" b="b"/>
              <a:pathLst>
                <a:path w="161290" h="167640">
                  <a:moveTo>
                    <a:pt x="161290" y="58420"/>
                  </a:moveTo>
                  <a:cubicBezTo>
                    <a:pt x="157480" y="116840"/>
                    <a:pt x="133350" y="147320"/>
                    <a:pt x="11557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7150" y="161290"/>
                    <a:pt x="22860" y="144780"/>
                    <a:pt x="1143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19050" y="25400"/>
                    <a:pt x="31750" y="17780"/>
                  </a:cubicBezTo>
                  <a:cubicBezTo>
                    <a:pt x="48260" y="7620"/>
                    <a:pt x="87630" y="0"/>
                    <a:pt x="106680" y="3810"/>
                  </a:cubicBezTo>
                  <a:cubicBezTo>
                    <a:pt x="12065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3270230" y="2882265"/>
            <a:ext cx="192405" cy="199072"/>
            <a:chOff x="0" y="0"/>
            <a:chExt cx="256540" cy="265430"/>
          </a:xfrm>
        </p:grpSpPr>
        <p:sp>
          <p:nvSpPr>
            <p:cNvPr id="8" name="Freeform 8"/>
            <p:cNvSpPr/>
            <p:nvPr/>
          </p:nvSpPr>
          <p:spPr>
            <a:xfrm>
              <a:off x="43180" y="50800"/>
              <a:ext cx="161290" cy="166370"/>
            </a:xfrm>
            <a:custGeom>
              <a:avLst/>
              <a:gdLst/>
              <a:ahLst/>
              <a:cxnLst/>
              <a:rect l="l" t="t" r="r" b="b"/>
              <a:pathLst>
                <a:path w="161290" h="166370">
                  <a:moveTo>
                    <a:pt x="161290" y="57150"/>
                  </a:moveTo>
                  <a:cubicBezTo>
                    <a:pt x="139700" y="144780"/>
                    <a:pt x="128270" y="152400"/>
                    <a:pt x="116840" y="157480"/>
                  </a:cubicBezTo>
                  <a:cubicBezTo>
                    <a:pt x="104140" y="162560"/>
                    <a:pt x="91440" y="166370"/>
                    <a:pt x="77470" y="163830"/>
                  </a:cubicBezTo>
                  <a:cubicBezTo>
                    <a:pt x="58420" y="160020"/>
                    <a:pt x="24130" y="143510"/>
                    <a:pt x="11430" y="12446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1590" y="24130"/>
                    <a:pt x="31750" y="16510"/>
                  </a:cubicBezTo>
                  <a:cubicBezTo>
                    <a:pt x="41910" y="8890"/>
                    <a:pt x="53340" y="1270"/>
                    <a:pt x="67310" y="0"/>
                  </a:cubicBezTo>
                  <a:cubicBezTo>
                    <a:pt x="87630" y="0"/>
                    <a:pt x="140970" y="22860"/>
                    <a:pt x="14097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406251" y="2905601"/>
            <a:ext cx="6887901" cy="271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063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Our inspiration began at Summer Internship where we saw the need for smarter, safer, and more reliable medical machines.</a:t>
            </a:r>
          </a:p>
          <a:p>
            <a:pPr algn="ctr">
              <a:lnSpc>
                <a:spcPts val="4289"/>
              </a:lnSpc>
            </a:pPr>
            <a:endParaRPr lang="en-US" sz="3063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855505" y="-12814"/>
            <a:ext cx="1257699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MOTIVATION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1589" y="1355611"/>
            <a:ext cx="16044822" cy="1526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3"/>
              </a:lnSpc>
            </a:pPr>
            <a:r>
              <a:rPr lang="en-US" sz="2895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Smart cities are built on smart healthcare. And smart healthcare begins with reliable machines</a:t>
            </a:r>
          </a:p>
          <a:p>
            <a:pPr algn="ctr">
              <a:lnSpc>
                <a:spcPts val="4053"/>
              </a:lnSpc>
            </a:pPr>
            <a:endParaRPr lang="en-US" sz="2895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572382" y="2787015"/>
            <a:ext cx="8952664" cy="330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4847" lvl="1" indent="-357424" algn="l">
              <a:lnSpc>
                <a:spcPts val="4635"/>
              </a:lnSpc>
              <a:buFont typeface="Arial"/>
              <a:buChar char="•"/>
            </a:pPr>
            <a:r>
              <a:rPr lang="en-US" sz="3311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The data below shows that current device breakdowns cost us money, waste time, erode trust, and reduce efficiency.</a:t>
            </a:r>
          </a:p>
          <a:p>
            <a:pPr marL="585310" lvl="1" indent="-292655" algn="l">
              <a:lnSpc>
                <a:spcPts val="3795"/>
              </a:lnSpc>
              <a:buFont typeface="Arial"/>
              <a:buChar char="•"/>
            </a:pPr>
            <a:r>
              <a:rPr lang="en-US" sz="2711" b="1" i="1">
                <a:solidFill>
                  <a:srgbClr val="3B365F"/>
                </a:solidFill>
                <a:latin typeface="Coco Gothic Bold Italics"/>
                <a:ea typeface="Coco Gothic Bold Italics"/>
                <a:cs typeface="Coco Gothic Bold Italics"/>
                <a:sym typeface="Coco Gothic Bold Italics"/>
              </a:rPr>
              <a:t>This data was collected from the hospital where we completed our internship.</a:t>
            </a:r>
          </a:p>
          <a:p>
            <a:pPr algn="ctr">
              <a:lnSpc>
                <a:spcPts val="4775"/>
              </a:lnSpc>
            </a:pPr>
            <a:endParaRPr lang="en-US" sz="2711" b="1" i="1">
              <a:solidFill>
                <a:srgbClr val="3B365F"/>
              </a:solidFill>
              <a:latin typeface="Coco Gothic Bold Italics"/>
              <a:ea typeface="Coco Gothic Bold Italics"/>
              <a:cs typeface="Coco Gothic Bold Italics"/>
              <a:sym typeface="Coco Gothic Bold Italics"/>
            </a:endParaRPr>
          </a:p>
        </p:txBody>
      </p:sp>
      <p:graphicFrame>
        <p:nvGraphicFramePr>
          <p:cNvPr id="13" name="Object 13"/>
          <p:cNvGraphicFramePr/>
          <p:nvPr>
            <p:extLst>
              <p:ext uri="{D42A27DB-BD31-4B8C-83A1-F6EECF244321}">
                <p14:modId xmlns:p14="http://schemas.microsoft.com/office/powerpoint/2010/main" val="229695613"/>
              </p:ext>
            </p:extLst>
          </p:nvPr>
        </p:nvGraphicFramePr>
        <p:xfrm>
          <a:off x="192174" y="4624281"/>
          <a:ext cx="15085797" cy="5756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15087600" imgH="6705600" progId="Excel.Sheet.12">
                  <p:embed/>
                </p:oleObj>
              </mc:Choice>
              <mc:Fallback>
                <p:oleObj name="Worksheet" r:id="rId8" imgW="15087600" imgH="6705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2174" y="4624281"/>
                        <a:ext cx="15085797" cy="5756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media4">
            <a:hlinkClick r:id="" action="ppaction://media"/>
            <a:extLst>
              <a:ext uri="{FF2B5EF4-FFF2-40B4-BE49-F238E27FC236}">
                <a16:creationId xmlns:a16="http://schemas.microsoft.com/office/drawing/2014/main" id="{A8F1B9E5-37BF-D4CB-6564-29CA99E3F8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7143551" y="9286521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65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41338" flipH="1">
            <a:off x="8023686" y="-2242638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-2312376" y="2408919"/>
            <a:ext cx="12395216" cy="7780208"/>
          </a:xfrm>
          <a:custGeom>
            <a:avLst/>
            <a:gdLst/>
            <a:ahLst/>
            <a:cxnLst/>
            <a:rect l="l" t="t" r="r" b="b"/>
            <a:pathLst>
              <a:path w="12395216" h="7780208">
                <a:moveTo>
                  <a:pt x="12395216" y="0"/>
                </a:moveTo>
                <a:lnTo>
                  <a:pt x="0" y="0"/>
                </a:lnTo>
                <a:lnTo>
                  <a:pt x="0" y="7780207"/>
                </a:lnTo>
                <a:lnTo>
                  <a:pt x="12395216" y="7780207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2045" y="2497805"/>
            <a:ext cx="8814885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An AI-powered predictive maintenance system that continuously monitors biomedical equipment, detects early signs of failure, and alerts staff before breakdowns occur.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Machine Selected are two critical, common, high-impact machines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1) Ventilator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2) Steam Sterilizer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0633" y="1285191"/>
            <a:ext cx="13192594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545F83"/>
                </a:solidFill>
                <a:latin typeface="TAN Headline"/>
                <a:ea typeface="TAN Headline"/>
                <a:cs typeface="TAN Headline"/>
                <a:sym typeface="TAN Headline"/>
              </a:rPr>
              <a:t>Smart Predictive Maintenance for Biomedical Equipment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545F83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445119" y="251745"/>
            <a:ext cx="10776175" cy="1062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9"/>
              </a:lnSpc>
            </a:pPr>
            <a:r>
              <a:rPr lang="en-US" sz="6178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PROPOSED SOLUTION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9810719" y="2222843"/>
            <a:ext cx="8046320" cy="2807732"/>
          </a:xfrm>
          <a:custGeom>
            <a:avLst/>
            <a:gdLst/>
            <a:ahLst/>
            <a:cxnLst/>
            <a:rect l="l" t="t" r="r" b="b"/>
            <a:pathLst>
              <a:path w="8046320" h="2807732">
                <a:moveTo>
                  <a:pt x="0" y="0"/>
                </a:moveTo>
                <a:lnTo>
                  <a:pt x="8046320" y="0"/>
                </a:lnTo>
                <a:lnTo>
                  <a:pt x="8046320" y="2807732"/>
                </a:lnTo>
                <a:lnTo>
                  <a:pt x="0" y="28077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66852" y="6895765"/>
            <a:ext cx="16332710" cy="312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114" lvl="1" indent="-270057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Data Collection → Sensors  + IoT modules on equipment collect real-time usage, temperature, vibration, and performance data.</a:t>
            </a:r>
          </a:p>
          <a:p>
            <a:pPr marL="540114" lvl="1" indent="-270057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AI Prediction → ML detects anomalies &amp; forecasts failures.</a:t>
            </a:r>
          </a:p>
          <a:p>
            <a:pPr marL="540114" lvl="1" indent="-270057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Early Alerts → Web Dashboards notify staff.</a:t>
            </a:r>
          </a:p>
          <a:p>
            <a:pPr marL="540114" lvl="1" indent="-270057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Preventive Action → Engineers service before breakdown.</a:t>
            </a:r>
          </a:p>
          <a:p>
            <a:pPr marL="540114" lvl="1" indent="-270057" algn="l">
              <a:lnSpc>
                <a:spcPts val="3502"/>
              </a:lnSpc>
              <a:buFont typeface="Arial"/>
              <a:buChar char="•"/>
            </a:pPr>
            <a:r>
              <a:rPr lang="en-US" sz="2501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Continuous Learning → AI gets smarter with more data.</a:t>
            </a:r>
          </a:p>
          <a:p>
            <a:pPr algn="l">
              <a:lnSpc>
                <a:spcPts val="3502"/>
              </a:lnSpc>
            </a:pPr>
            <a:endParaRPr lang="en-US" sz="2501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</p:txBody>
      </p:sp>
      <p:pic>
        <p:nvPicPr>
          <p:cNvPr id="9" name="media5">
            <a:hlinkClick r:id="" action="ppaction://media"/>
            <a:extLst>
              <a:ext uri="{FF2B5EF4-FFF2-40B4-BE49-F238E27FC236}">
                <a16:creationId xmlns:a16="http://schemas.microsoft.com/office/drawing/2014/main" id="{EB28A988-5BED-265E-1851-3392B12216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7316348" y="9412421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8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41338" flipH="1">
            <a:off x="-1197019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51663" y="1028700"/>
            <a:ext cx="7567589" cy="8651745"/>
          </a:xfrm>
          <a:custGeom>
            <a:avLst/>
            <a:gdLst/>
            <a:ahLst/>
            <a:cxnLst/>
            <a:rect l="l" t="t" r="r" b="b"/>
            <a:pathLst>
              <a:path w="7567589" h="8651745">
                <a:moveTo>
                  <a:pt x="0" y="0"/>
                </a:moveTo>
                <a:lnTo>
                  <a:pt x="7567589" y="0"/>
                </a:lnTo>
                <a:lnTo>
                  <a:pt x="7567589" y="8651745"/>
                </a:lnTo>
                <a:lnTo>
                  <a:pt x="0" y="86517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561" t="-4089" r="-1044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4494936"/>
            <a:ext cx="7693192" cy="5125589"/>
          </a:xfrm>
          <a:custGeom>
            <a:avLst/>
            <a:gdLst/>
            <a:ahLst/>
            <a:cxnLst/>
            <a:rect l="l" t="t" r="r" b="b"/>
            <a:pathLst>
              <a:path w="7693192" h="5125589">
                <a:moveTo>
                  <a:pt x="0" y="0"/>
                </a:moveTo>
                <a:lnTo>
                  <a:pt x="7693192" y="0"/>
                </a:lnTo>
                <a:lnTo>
                  <a:pt x="7693192" y="5125590"/>
                </a:lnTo>
                <a:lnTo>
                  <a:pt x="0" y="5125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94936" y="382814"/>
            <a:ext cx="10451753" cy="513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9"/>
              </a:lnSpc>
              <a:spcBef>
                <a:spcPct val="0"/>
              </a:spcBef>
            </a:pPr>
            <a:r>
              <a:rPr lang="en-US" sz="3042">
                <a:solidFill>
                  <a:srgbClr val="191341"/>
                </a:solidFill>
                <a:latin typeface="TAN Headline"/>
                <a:ea typeface="TAN Headline"/>
                <a:cs typeface="TAN Headline"/>
                <a:sym typeface="TAN Headline"/>
              </a:rPr>
              <a:t>ML learning And Circuit Diagram For Prototype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4610" y="1350068"/>
            <a:ext cx="7189294" cy="290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41"/>
              </a:lnSpc>
              <a:spcBef>
                <a:spcPct val="0"/>
              </a:spcBef>
            </a:pPr>
            <a:r>
              <a:rPr lang="en-US" sz="2386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r>
              <a:rPr lang="en-US" sz="2386" b="1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Sensors used for Steam Sterilizer</a:t>
            </a:r>
          </a:p>
          <a:p>
            <a:pPr marL="515239" lvl="1" indent="-257619" algn="l">
              <a:lnSpc>
                <a:spcPts val="3341"/>
              </a:lnSpc>
              <a:spcBef>
                <a:spcPct val="0"/>
              </a:spcBef>
              <a:buAutoNum type="arabicPeriod"/>
            </a:pPr>
            <a:r>
              <a:rPr lang="en-US" sz="2386" u="none" strike="noStrike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Temperature Sensor (DS18B20 / PT100 RTD)</a:t>
            </a:r>
          </a:p>
          <a:p>
            <a:pPr marL="515239" lvl="1" indent="-257619" algn="l">
              <a:lnSpc>
                <a:spcPts val="3341"/>
              </a:lnSpc>
              <a:spcBef>
                <a:spcPct val="0"/>
              </a:spcBef>
              <a:buAutoNum type="arabicPeriod"/>
            </a:pPr>
            <a:r>
              <a:rPr lang="en-US" sz="2386" u="none" strike="noStrike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Pressure Sensor (0–30 psi transducer, analog)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sz="2386" u="none" strike="noStrike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r>
              <a:rPr lang="en-US" sz="2386" b="1" u="none" strike="noStrike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 Sensors used for Ventilator</a:t>
            </a:r>
          </a:p>
          <a:p>
            <a:pPr marL="515239" lvl="1" indent="-257619" algn="l">
              <a:lnSpc>
                <a:spcPts val="3341"/>
              </a:lnSpc>
              <a:buAutoNum type="arabicPeriod"/>
            </a:pPr>
            <a:r>
              <a:rPr lang="en-US" sz="2386" u="none" strike="noStrike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Pressure Sensor (BMP180 / MPX5010DP)</a:t>
            </a:r>
          </a:p>
          <a:p>
            <a:pPr marL="515239" lvl="1" indent="-257619" algn="l">
              <a:lnSpc>
                <a:spcPts val="3341"/>
              </a:lnSpc>
              <a:buAutoNum type="arabicPeriod"/>
            </a:pPr>
            <a:r>
              <a:rPr lang="en-US" sz="2386" u="none" strike="noStrike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Vibration Sensor (MPU6050)</a:t>
            </a:r>
          </a:p>
          <a:p>
            <a:pPr marL="0" lvl="0" indent="0" algn="l">
              <a:lnSpc>
                <a:spcPts val="2913"/>
              </a:lnSpc>
              <a:spcBef>
                <a:spcPct val="0"/>
              </a:spcBef>
            </a:pPr>
            <a:endParaRPr lang="en-US" sz="2386" u="none" strike="noStrike">
              <a:solidFill>
                <a:srgbClr val="4852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media6">
            <a:hlinkClick r:id="" action="ppaction://media"/>
            <a:extLst>
              <a:ext uri="{FF2B5EF4-FFF2-40B4-BE49-F238E27FC236}">
                <a16:creationId xmlns:a16="http://schemas.microsoft.com/office/drawing/2014/main" id="{CA65E9E4-06A5-C87F-4E87-4E5B420D32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385143" y="9315725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47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385461">
            <a:off x="-266473" y="-2021261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385461" flipH="1">
            <a:off x="11770047" y="-793791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2" y="0"/>
                </a:moveTo>
                <a:lnTo>
                  <a:pt x="0" y="0"/>
                </a:lnTo>
                <a:lnTo>
                  <a:pt x="0" y="10202966"/>
                </a:lnTo>
                <a:lnTo>
                  <a:pt x="9743832" y="10202966"/>
                </a:lnTo>
                <a:lnTo>
                  <a:pt x="97438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02704" y="8558415"/>
            <a:ext cx="1828678" cy="1399770"/>
          </a:xfrm>
          <a:custGeom>
            <a:avLst/>
            <a:gdLst/>
            <a:ahLst/>
            <a:cxnLst/>
            <a:rect l="l" t="t" r="r" b="b"/>
            <a:pathLst>
              <a:path w="1828678" h="1399770">
                <a:moveTo>
                  <a:pt x="0" y="0"/>
                </a:moveTo>
                <a:lnTo>
                  <a:pt x="1828677" y="0"/>
                </a:lnTo>
                <a:lnTo>
                  <a:pt x="1828677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29768" y="8973971"/>
            <a:ext cx="15205680" cy="8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7"/>
              </a:lnSpc>
            </a:pPr>
            <a:endParaRPr/>
          </a:p>
          <a:p>
            <a:pPr algn="just">
              <a:lnSpc>
                <a:spcPts val="3507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648989" y="272012"/>
            <a:ext cx="12990022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sz="59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IMPLEMENTATION PLAN: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2380" y="1483885"/>
            <a:ext cx="15503069" cy="8429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634" b="1" u="none" strike="noStrike" dirty="0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Step 1 – Data Simulation &amp; Sensors </a:t>
            </a:r>
          </a:p>
          <a:p>
            <a:pPr algn="l">
              <a:lnSpc>
                <a:spcPts val="3688"/>
              </a:lnSpc>
            </a:pP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Use ESP32 with basic sensors (temperature + pressure for autoclave, airflow + pressure for ventilator) or run a simulator to generate live equipment signals.</a:t>
            </a:r>
          </a:p>
          <a:p>
            <a:pPr algn="l">
              <a:lnSpc>
                <a:spcPts val="3688"/>
              </a:lnSpc>
            </a:pPr>
            <a:r>
              <a:rPr lang="en-US" sz="2634" b="1" u="none" strike="noStrike" dirty="0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Step 2 – Data Transmission</a:t>
            </a:r>
          </a:p>
          <a:p>
            <a:pPr algn="l">
              <a:lnSpc>
                <a:spcPts val="3688"/>
              </a:lnSpc>
            </a:pP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 Send sensor data as JSON via HTTP to a Python backend (</a:t>
            </a:r>
            <a:r>
              <a:rPr lang="en-US" sz="2634" u="none" strike="noStrike" dirty="0" err="1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/Flask) and log it into SQLite for quick access.</a:t>
            </a:r>
          </a:p>
          <a:p>
            <a:pPr algn="l">
              <a:lnSpc>
                <a:spcPts val="3688"/>
              </a:lnSpc>
            </a:pPr>
            <a:r>
              <a:rPr lang="en-US" sz="2634" b="1" u="none" strike="noStrike" dirty="0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Step 3 – Machine Learning Model</a:t>
            </a:r>
          </a:p>
          <a:p>
            <a:pPr algn="l">
              <a:lnSpc>
                <a:spcPts val="3688"/>
              </a:lnSpc>
            </a:pP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 Train a small ML classifier (Random Forest) on sample/simulated datasets to predict Healthy, Warning, Critical. Save model as .</a:t>
            </a:r>
            <a:r>
              <a:rPr lang="en-US" sz="2634" u="none" strike="noStrike" dirty="0" err="1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pkl</a:t>
            </a: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3688"/>
              </a:lnSpc>
            </a:pPr>
            <a:r>
              <a:rPr lang="en-US" sz="2634" b="1" u="none" strike="noStrike" dirty="0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Step 4 – </a:t>
            </a:r>
            <a:r>
              <a:rPr lang="en-US" sz="2634" b="1" u="none" strike="noStrike" dirty="0" err="1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Streamlit</a:t>
            </a:r>
            <a:r>
              <a:rPr lang="en-US" sz="2634" b="1" u="none" strike="noStrike" dirty="0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 Dashboard</a:t>
            </a:r>
          </a:p>
          <a:p>
            <a:pPr algn="l">
              <a:lnSpc>
                <a:spcPts val="3688"/>
              </a:lnSpc>
            </a:pP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 Build a simple UI with tabs:</a:t>
            </a:r>
          </a:p>
          <a:p>
            <a:pPr algn="l">
              <a:lnSpc>
                <a:spcPts val="3688"/>
              </a:lnSpc>
            </a:pPr>
            <a:r>
              <a:rPr lang="en-US" sz="2634" b="1" u="none" strike="noStrike" dirty="0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Autoclave Monitor</a:t>
            </a: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 → temp/pressure cycle + prediction.</a:t>
            </a:r>
          </a:p>
          <a:p>
            <a:pPr algn="l">
              <a:lnSpc>
                <a:spcPts val="3688"/>
              </a:lnSpc>
            </a:pPr>
            <a:r>
              <a:rPr lang="en-US" sz="2634" b="1" u="none" strike="noStrike" dirty="0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Ventilator Monitor</a:t>
            </a: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 → airflow/pressure stability + prediction.</a:t>
            </a:r>
          </a:p>
          <a:p>
            <a:pPr algn="l">
              <a:lnSpc>
                <a:spcPts val="3688"/>
              </a:lnSpc>
            </a:pPr>
            <a:r>
              <a:rPr lang="en-US" sz="2634" b="1" u="none" strike="noStrike" dirty="0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Alerts Panel</a:t>
            </a: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 → highlights risky devices.</a:t>
            </a:r>
          </a:p>
          <a:p>
            <a:pPr algn="l">
              <a:lnSpc>
                <a:spcPts val="3688"/>
              </a:lnSpc>
            </a:pPr>
            <a:r>
              <a:rPr lang="en-US" sz="2634" b="1" u="none" strike="noStrike" dirty="0">
                <a:solidFill>
                  <a:srgbClr val="485274"/>
                </a:solidFill>
                <a:latin typeface="Arial Bold"/>
                <a:ea typeface="Arial Bold"/>
                <a:cs typeface="Arial Bold"/>
                <a:sym typeface="Arial Bold"/>
              </a:rPr>
              <a:t>Step 5 – Live Demo Prep</a:t>
            </a:r>
          </a:p>
          <a:p>
            <a:pPr algn="l">
              <a:lnSpc>
                <a:spcPts val="3688"/>
              </a:lnSpc>
            </a:pP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 Run IoT board or simulator feeding data → backend → ML → </a:t>
            </a:r>
            <a:r>
              <a:rPr lang="en-US" sz="2634" u="none" strike="noStrike" dirty="0" err="1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r>
              <a:rPr lang="en-US" sz="2634" u="none" strike="noStrike" dirty="0">
                <a:solidFill>
                  <a:srgbClr val="485274"/>
                </a:solidFill>
                <a:latin typeface="Arial"/>
                <a:ea typeface="Arial"/>
                <a:cs typeface="Arial"/>
                <a:sym typeface="Arial"/>
              </a:rPr>
              <a:t>. Show real-time predictions and an alert popping up.</a:t>
            </a:r>
          </a:p>
          <a:p>
            <a:pPr algn="l">
              <a:lnSpc>
                <a:spcPts val="3688"/>
              </a:lnSpc>
            </a:pPr>
            <a:endParaRPr lang="en-US" sz="2634" u="none" strike="noStrike" dirty="0">
              <a:solidFill>
                <a:srgbClr val="4852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media7">
            <a:hlinkClick r:id="" action="ppaction://media"/>
            <a:extLst>
              <a:ext uri="{FF2B5EF4-FFF2-40B4-BE49-F238E27FC236}">
                <a16:creationId xmlns:a16="http://schemas.microsoft.com/office/drawing/2014/main" id="{3A5BF9AA-2481-7479-517D-B11B426DC5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291020" y="9210571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18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63527" flipH="1">
            <a:off x="821744" y="656984"/>
            <a:ext cx="8187361" cy="5139028"/>
          </a:xfrm>
          <a:custGeom>
            <a:avLst/>
            <a:gdLst/>
            <a:ahLst/>
            <a:cxnLst/>
            <a:rect l="l" t="t" r="r" b="b"/>
            <a:pathLst>
              <a:path w="8187361" h="5139028">
                <a:moveTo>
                  <a:pt x="8187361" y="0"/>
                </a:moveTo>
                <a:lnTo>
                  <a:pt x="0" y="0"/>
                </a:lnTo>
                <a:lnTo>
                  <a:pt x="0" y="5139029"/>
                </a:lnTo>
                <a:lnTo>
                  <a:pt x="8187361" y="5139029"/>
                </a:lnTo>
                <a:lnTo>
                  <a:pt x="8187361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6135692" y="5046891"/>
            <a:ext cx="9405913" cy="5903887"/>
          </a:xfrm>
          <a:custGeom>
            <a:avLst/>
            <a:gdLst/>
            <a:ahLst/>
            <a:cxnLst/>
            <a:rect l="l" t="t" r="r" b="b"/>
            <a:pathLst>
              <a:path w="9405913" h="5903887">
                <a:moveTo>
                  <a:pt x="9405913" y="0"/>
                </a:moveTo>
                <a:lnTo>
                  <a:pt x="0" y="0"/>
                </a:lnTo>
                <a:lnTo>
                  <a:pt x="0" y="5903887"/>
                </a:lnTo>
                <a:lnTo>
                  <a:pt x="9405913" y="5903887"/>
                </a:lnTo>
                <a:lnTo>
                  <a:pt x="9405913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99738" y="6429617"/>
            <a:ext cx="4915980" cy="5239901"/>
          </a:xfrm>
          <a:custGeom>
            <a:avLst/>
            <a:gdLst/>
            <a:ahLst/>
            <a:cxnLst/>
            <a:rect l="l" t="t" r="r" b="b"/>
            <a:pathLst>
              <a:path w="4915980" h="5239901">
                <a:moveTo>
                  <a:pt x="0" y="0"/>
                </a:moveTo>
                <a:lnTo>
                  <a:pt x="4915979" y="0"/>
                </a:lnTo>
                <a:lnTo>
                  <a:pt x="4915979" y="5239900"/>
                </a:lnTo>
                <a:lnTo>
                  <a:pt x="0" y="5239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122189">
            <a:off x="8438676" y="1952984"/>
            <a:ext cx="197786" cy="200695"/>
            <a:chOff x="0" y="0"/>
            <a:chExt cx="259080" cy="262890"/>
          </a:xfrm>
        </p:grpSpPr>
        <p:sp>
          <p:nvSpPr>
            <p:cNvPr id="6" name="Freeform 6"/>
            <p:cNvSpPr/>
            <p:nvPr/>
          </p:nvSpPr>
          <p:spPr>
            <a:xfrm>
              <a:off x="43180" y="46990"/>
              <a:ext cx="161290" cy="167640"/>
            </a:xfrm>
            <a:custGeom>
              <a:avLst/>
              <a:gdLst/>
              <a:ahLst/>
              <a:cxnLst/>
              <a:rect l="l" t="t" r="r" b="b"/>
              <a:pathLst>
                <a:path w="161290" h="16764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779520" y="9743122"/>
            <a:ext cx="194310" cy="192405"/>
            <a:chOff x="0" y="0"/>
            <a:chExt cx="259080" cy="256540"/>
          </a:xfrm>
        </p:grpSpPr>
        <p:sp>
          <p:nvSpPr>
            <p:cNvPr id="8" name="Freeform 8"/>
            <p:cNvSpPr/>
            <p:nvPr/>
          </p:nvSpPr>
          <p:spPr>
            <a:xfrm>
              <a:off x="44450" y="46990"/>
              <a:ext cx="160020" cy="166370"/>
            </a:xfrm>
            <a:custGeom>
              <a:avLst/>
              <a:gdLst/>
              <a:ahLst/>
              <a:cxnLst/>
              <a:rect l="l" t="t" r="r" b="b"/>
              <a:pathLst>
                <a:path w="160020" h="16637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341848" y="1479556"/>
            <a:ext cx="13666402" cy="380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2" lvl="1" indent="-291466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545F83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AI + IoT Fusion → Real-time predictive maintenance for critical hospital equipment.</a:t>
            </a:r>
          </a:p>
          <a:p>
            <a:pPr marL="582932" lvl="1" indent="-291466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545F83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Device-Specific Models → Separate ML models for Autoclaves &amp; Ventilators (not generic).</a:t>
            </a:r>
          </a:p>
          <a:p>
            <a:pPr marL="582932" lvl="1" indent="-291466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545F83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Low-Cost IoT Sensors → Retrofit on existing machines, no need for new equipment.</a:t>
            </a:r>
          </a:p>
          <a:p>
            <a:pPr marL="582932" lvl="1" indent="-291466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545F83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Early Failure Prediction → Detects heater/valve wear (autoclave) &amp; airflow/pressure drift (ventilator) before breakdown.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96034" y="523844"/>
            <a:ext cx="8189125" cy="78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458"/>
              </a:lnSpc>
            </a:pPr>
            <a:r>
              <a:rPr lang="en-US" sz="4613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INNOVATION FACTOR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43007" y="5740945"/>
            <a:ext cx="8189125" cy="170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78"/>
              </a:lnSpc>
            </a:pPr>
            <a:r>
              <a:rPr lang="en-US" sz="4913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FUTURE SCOPE</a:t>
            </a:r>
          </a:p>
          <a:p>
            <a:pPr algn="r">
              <a:lnSpc>
                <a:spcPts val="6878"/>
              </a:lnSpc>
            </a:pPr>
            <a:endParaRPr lang="en-US" sz="4913">
              <a:solidFill>
                <a:srgbClr val="3B365F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290596" y="6612572"/>
            <a:ext cx="10237387" cy="381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545F83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Integration with Hospital IoT Network – connect multiple devices (autoclaves, ventilators, monitors) into one predictive platform.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545F83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Edge AI Deployment – run lightweight ML models directly on devices (ESP32/TinyML) for faster, offline predictions.</a:t>
            </a:r>
          </a:p>
          <a:p>
            <a:pPr algn="ctr">
              <a:lnSpc>
                <a:spcPts val="5319"/>
              </a:lnSpc>
            </a:pPr>
            <a:endParaRPr lang="en-US" sz="2900" b="1">
              <a:solidFill>
                <a:srgbClr val="545F83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</p:txBody>
      </p:sp>
      <p:pic>
        <p:nvPicPr>
          <p:cNvPr id="13" name="media8">
            <a:hlinkClick r:id="" action="ppaction://media"/>
            <a:extLst>
              <a:ext uri="{FF2B5EF4-FFF2-40B4-BE49-F238E27FC236}">
                <a16:creationId xmlns:a16="http://schemas.microsoft.com/office/drawing/2014/main" id="{F44CA154-91E7-5067-886C-B56DEAEB5E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234290" y="923115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41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385461">
            <a:off x="578292" y="-2007906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82094">
            <a:off x="10869086" y="210999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457466" y="3726757"/>
            <a:ext cx="15397760" cy="9664839"/>
          </a:xfrm>
          <a:custGeom>
            <a:avLst/>
            <a:gdLst/>
            <a:ahLst/>
            <a:cxnLst/>
            <a:rect l="l" t="t" r="r" b="b"/>
            <a:pathLst>
              <a:path w="15397760" h="9664839">
                <a:moveTo>
                  <a:pt x="15397760" y="0"/>
                </a:moveTo>
                <a:lnTo>
                  <a:pt x="0" y="0"/>
                </a:lnTo>
                <a:lnTo>
                  <a:pt x="0" y="9664839"/>
                </a:lnTo>
                <a:lnTo>
                  <a:pt x="15397760" y="9664839"/>
                </a:lnTo>
                <a:lnTo>
                  <a:pt x="153977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621202" y="4003358"/>
            <a:ext cx="197167" cy="199072"/>
            <a:chOff x="0" y="0"/>
            <a:chExt cx="262890" cy="265430"/>
          </a:xfrm>
        </p:grpSpPr>
        <p:sp>
          <p:nvSpPr>
            <p:cNvPr id="6" name="Freeform 6"/>
            <p:cNvSpPr/>
            <p:nvPr/>
          </p:nvSpPr>
          <p:spPr>
            <a:xfrm>
              <a:off x="50800" y="49530"/>
              <a:ext cx="161290" cy="167640"/>
            </a:xfrm>
            <a:custGeom>
              <a:avLst/>
              <a:gdLst/>
              <a:ahLst/>
              <a:cxnLst/>
              <a:rect l="l" t="t" r="r" b="b"/>
              <a:pathLst>
                <a:path w="161290" h="167640">
                  <a:moveTo>
                    <a:pt x="161290" y="58420"/>
                  </a:moveTo>
                  <a:cubicBezTo>
                    <a:pt x="139700" y="146050"/>
                    <a:pt x="128270" y="152400"/>
                    <a:pt x="116840" y="158750"/>
                  </a:cubicBezTo>
                  <a:cubicBezTo>
                    <a:pt x="105410" y="163830"/>
                    <a:pt x="91440" y="167640"/>
                    <a:pt x="77470" y="165100"/>
                  </a:cubicBezTo>
                  <a:cubicBezTo>
                    <a:pt x="58420" y="161290"/>
                    <a:pt x="24130" y="140970"/>
                    <a:pt x="11430" y="125730"/>
                  </a:cubicBezTo>
                  <a:cubicBezTo>
                    <a:pt x="2540" y="114300"/>
                    <a:pt x="0" y="102870"/>
                    <a:pt x="0" y="87630"/>
                  </a:cubicBezTo>
                  <a:cubicBezTo>
                    <a:pt x="1270" y="68580"/>
                    <a:pt x="17780" y="31750"/>
                    <a:pt x="31750" y="17780"/>
                  </a:cubicBezTo>
                  <a:cubicBezTo>
                    <a:pt x="41910" y="7620"/>
                    <a:pt x="53340" y="2540"/>
                    <a:pt x="67310" y="1270"/>
                  </a:cubicBezTo>
                  <a:cubicBezTo>
                    <a:pt x="87630" y="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3620750" y="9384982"/>
            <a:ext cx="192405" cy="192405"/>
            <a:chOff x="0" y="0"/>
            <a:chExt cx="256540" cy="256540"/>
          </a:xfrm>
        </p:grpSpPr>
        <p:sp>
          <p:nvSpPr>
            <p:cNvPr id="8" name="Freeform 8"/>
            <p:cNvSpPr/>
            <p:nvPr/>
          </p:nvSpPr>
          <p:spPr>
            <a:xfrm>
              <a:off x="44450" y="46990"/>
              <a:ext cx="160020" cy="163830"/>
            </a:xfrm>
            <a:custGeom>
              <a:avLst/>
              <a:gdLst/>
              <a:ahLst/>
              <a:cxnLst/>
              <a:rect l="l" t="t" r="r" b="b"/>
              <a:pathLst>
                <a:path w="160020" h="163830">
                  <a:moveTo>
                    <a:pt x="160020" y="58420"/>
                  </a:moveTo>
                  <a:cubicBezTo>
                    <a:pt x="139700" y="146050"/>
                    <a:pt x="129540" y="153670"/>
                    <a:pt x="115570" y="157480"/>
                  </a:cubicBezTo>
                  <a:cubicBezTo>
                    <a:pt x="96520" y="163830"/>
                    <a:pt x="57150" y="161290"/>
                    <a:pt x="39370" y="153670"/>
                  </a:cubicBezTo>
                  <a:cubicBezTo>
                    <a:pt x="25400" y="147320"/>
                    <a:pt x="16510" y="138430"/>
                    <a:pt x="1143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5560"/>
                    <a:pt x="19050" y="25400"/>
                    <a:pt x="30480" y="17780"/>
                  </a:cubicBezTo>
                  <a:cubicBezTo>
                    <a:pt x="48260" y="7620"/>
                    <a:pt x="86360" y="0"/>
                    <a:pt x="106680" y="3810"/>
                  </a:cubicBezTo>
                  <a:cubicBezTo>
                    <a:pt x="12065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-2935594" y="3855244"/>
            <a:ext cx="17799566" cy="218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870"/>
              </a:lnSpc>
            </a:pPr>
            <a:r>
              <a:rPr lang="en-US" sz="12764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THANKYOU</a:t>
            </a:r>
          </a:p>
        </p:txBody>
      </p:sp>
      <p:pic>
        <p:nvPicPr>
          <p:cNvPr id="10" name="media9">
            <a:hlinkClick r:id="" action="ppaction://media"/>
            <a:extLst>
              <a:ext uri="{FF2B5EF4-FFF2-40B4-BE49-F238E27FC236}">
                <a16:creationId xmlns:a16="http://schemas.microsoft.com/office/drawing/2014/main" id="{59C1AAB1-A5CF-77D4-F3E0-FAFA905A4B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172770" y="9238298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43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708</Words>
  <Application>Microsoft Office PowerPoint</Application>
  <PresentationFormat>Custom</PresentationFormat>
  <Paragraphs>65</Paragraphs>
  <Slides>9</Slides>
  <Notes>0</Notes>
  <HiddenSlides>0</HiddenSlides>
  <MMClips>9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Coco Gothic</vt:lpstr>
      <vt:lpstr>TAN Headline</vt:lpstr>
      <vt:lpstr>Arial Bold</vt:lpstr>
      <vt:lpstr>Canva Sans</vt:lpstr>
      <vt:lpstr>Calibri</vt:lpstr>
      <vt:lpstr>Canva Sans Bold</vt:lpstr>
      <vt:lpstr>Arial</vt:lpstr>
      <vt:lpstr>Coco Gothic Bold</vt:lpstr>
      <vt:lpstr>Coco Gothic Bold Italics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Illustrative Innovation in Medicine Presentation</dc:title>
  <cp:lastModifiedBy>Rahul Patil</cp:lastModifiedBy>
  <cp:revision>5</cp:revision>
  <dcterms:created xsi:type="dcterms:W3CDTF">2006-08-16T00:00:00Z</dcterms:created>
  <dcterms:modified xsi:type="dcterms:W3CDTF">2025-08-20T15:24:34Z</dcterms:modified>
  <dc:identifier>DAGwbu60Lxw</dc:identifier>
</cp:coreProperties>
</file>